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6192500" cy="42767250"/>
  <p:notesSz cx="42767250" cy="16192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EE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81000"/>
            <a:ext cx="102679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spc="332" kern="0" dirty="0">
                <a:solidFill>
                  <a:srgbClr val="FF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SHOWMAN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762000" y="561975"/>
            <a:ext cx="10267950" cy="544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Booking platform — IA &amp; flow wireframes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1106805"/>
            <a:ext cx="9614535" cy="54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5C554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Five ways to organize the same product. One booker journey, one artist desk, one manager/org layer — wired up five different ways. Pan around. Pick the bones that feel right; we go hi-fi on the winner.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 rot="-84000">
            <a:off x="10858501" y="455295"/>
            <a:ext cx="2476499" cy="1504949"/>
          </a:xfrm>
          <a:prstGeom prst="rect">
            <a:avLst/>
          </a:prstGeom>
          <a:solidFill>
            <a:srgbClr val="FEF4A8"/>
          </a:solidFill>
          <a:ln/>
          <a:effectLst>
            <a:outerShdw sx="100000" sy="100000" kx="0" ky="0" algn="bl" rotWithShape="0" blurRad="57150" dist="19050" dir="54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 rot="-84000">
            <a:off x="11001376" y="588645"/>
            <a:ext cx="2266949" cy="12763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Legend 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accent = primary action / live hatched box = photo / media dashed = container / drop zone </a:t>
            </a:r>
            <a:pPr algn="l"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Low-fi on purpose — structure first, skin later.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2190750"/>
            <a:ext cx="235743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 · The Deal Pipeline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762000" y="2590800"/>
            <a:ext cx="6082665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Every booking is a </a:t>
            </a:r>
            <a:pPr algn="l" indent="0" marL="0">
              <a:buNone/>
            </a:pPr>
            <a:r>
              <a:rPr lang="en-US" sz="1350" b="1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deal </a:t>
            </a:r>
            <a:pPr algn="l" indent="0" marL="0">
              <a:buNone/>
            </a:pPr>
            <a:r>
              <a:rPr lang="en-US" sz="1350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that moves through stages. The whole product is one shared pipeline — booker, artist and manager see the same deal from their own seat. Kills the email back-and-forth.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 rot="72000">
            <a:off x="11239500" y="2249329"/>
            <a:ext cx="2266951" cy="800100"/>
          </a:xfrm>
          <a:prstGeom prst="rect">
            <a:avLst/>
          </a:prstGeom>
          <a:solidFill>
            <a:srgbClr val="FEF4A8"/>
          </a:solidFill>
          <a:ln/>
          <a:effectLst>
            <a:outerShdw sx="100000" sy="100000" kx="0" ky="0" algn="bl" rotWithShape="0" blurRad="57150" dist="1905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 rot="72000">
            <a:off x="11372850" y="2363629"/>
            <a:ext cx="207645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Best if the magic is </a:t>
            </a:r>
            <a:pPr algn="l" indent="0" marL="0">
              <a:lnSpc>
                <a:spcPct val="134000"/>
              </a:lnSpc>
              <a:buNone/>
            </a:pPr>
            <a:r>
              <a:rPr lang="en-US" sz="1125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workflow </a:t>
            </a:r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— replacing the messy thread with a clean source of truth.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81050" y="3190875"/>
            <a:ext cx="19913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· Manager — pipeline board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62000" y="3429000"/>
            <a:ext cx="7429500" cy="3406140"/>
          </a:xfrm>
          <a:prstGeom prst="roundRect">
            <a:avLst>
              <a:gd name="adj" fmla="val 3915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0590" y="3937635"/>
            <a:ext cx="7132320" cy="9525"/>
          </a:xfrm>
          <a:prstGeom prst="rect">
            <a:avLst/>
          </a:prstGeom>
          <a:solidFill>
            <a:srgbClr val="E4DDCD"/>
          </a:solidFill>
          <a:ln/>
        </p:spPr>
      </p:sp>
      <p:sp>
        <p:nvSpPr>
          <p:cNvPr id="14" name="Shape 12"/>
          <p:cNvSpPr/>
          <p:nvPr/>
        </p:nvSpPr>
        <p:spPr>
          <a:xfrm>
            <a:off x="910590" y="3669030"/>
            <a:ext cx="91440" cy="91440"/>
          </a:xfrm>
          <a:prstGeom prst="ellipse">
            <a:avLst/>
          </a:prstGeom>
          <a:ln w="7620">
            <a:solidFill>
              <a:srgbClr val="B8B0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9655" y="3669030"/>
            <a:ext cx="91440" cy="91440"/>
          </a:xfrm>
          <a:prstGeom prst="ellipse">
            <a:avLst/>
          </a:prstGeom>
          <a:ln w="7620">
            <a:solidFill>
              <a:srgbClr val="B8B0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88720" y="3669030"/>
            <a:ext cx="91440" cy="91440"/>
          </a:xfrm>
          <a:prstGeom prst="ellipse">
            <a:avLst/>
          </a:prstGeom>
          <a:ln w="7620">
            <a:solidFill>
              <a:srgbClr val="B8B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4935" y="3642360"/>
            <a:ext cx="262147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50" kern="0" dirty="0">
                <a:solidFill>
                  <a:srgbClr val="A5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showman ▸ NIGHTSHADE MGMT ▸ pipeline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6591538" y="3577590"/>
            <a:ext cx="874871" cy="274320"/>
          </a:xfrm>
          <a:prstGeom prst="roundRect">
            <a:avLst>
              <a:gd name="adj" fmla="val 50000"/>
            </a:avLst>
          </a:prstGeom>
          <a:ln w="7620">
            <a:solidFill>
              <a:srgbClr val="CABF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3933" y="3623310"/>
            <a:ext cx="72628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54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All artists ▾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7523559" y="3585210"/>
            <a:ext cx="519351" cy="25908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628334" y="3623310"/>
            <a:ext cx="386001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+ New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910590" y="4050030"/>
            <a:ext cx="1718786" cy="2358390"/>
          </a:xfrm>
          <a:prstGeom prst="roundRect">
            <a:avLst>
              <a:gd name="adj" fmla="val 4988"/>
            </a:avLst>
          </a:prstGeom>
          <a:solidFill>
            <a:srgbClr val="F3EFE6"/>
          </a:solidFill>
          <a:ln w="7620">
            <a:solidFill>
              <a:srgbClr val="C7C0B0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994410" y="4133850"/>
            <a:ext cx="170626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 · 5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994410" y="4314825"/>
            <a:ext cx="1551146" cy="651510"/>
          </a:xfrm>
          <a:prstGeom prst="roundRect">
            <a:avLst>
              <a:gd name="adj" fmla="val 10234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8705" y="4389120"/>
            <a:ext cx="15428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 × Sónar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1068705" y="4572000"/>
            <a:ext cx="15428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Barcelona · Jun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1068705" y="4732020"/>
            <a:ext cx="15428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€9k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994410" y="5033010"/>
            <a:ext cx="1551146" cy="491490"/>
          </a:xfrm>
          <a:prstGeom prst="roundRect">
            <a:avLst>
              <a:gd name="adj" fmla="val 13566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8705" y="5107305"/>
            <a:ext cx="15428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LUNA × private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1068705" y="5290185"/>
            <a:ext cx="15428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Tokyo · Oct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2715101" y="4050030"/>
            <a:ext cx="1718786" cy="2358390"/>
          </a:xfrm>
          <a:prstGeom prst="roundRect">
            <a:avLst>
              <a:gd name="adj" fmla="val 4988"/>
            </a:avLst>
          </a:prstGeom>
          <a:solidFill>
            <a:srgbClr val="F3EFE6"/>
          </a:solidFill>
          <a:ln w="7620">
            <a:solidFill>
              <a:srgbClr val="C7C0B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798921" y="4133850"/>
            <a:ext cx="170626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TALKS · 3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2798921" y="4314825"/>
            <a:ext cx="1551146" cy="651510"/>
          </a:xfrm>
          <a:prstGeom prst="roundRect">
            <a:avLst>
              <a:gd name="adj" fmla="val 10234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73216" y="4389120"/>
            <a:ext cx="15428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SOBA × Boiler Rm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2873216" y="4572000"/>
            <a:ext cx="15428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London · Sep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2873216" y="4732020"/>
            <a:ext cx="154281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£6k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4519613" y="4050030"/>
            <a:ext cx="1718786" cy="2358390"/>
          </a:xfrm>
          <a:prstGeom prst="roundRect">
            <a:avLst>
              <a:gd name="adj" fmla="val 4988"/>
            </a:avLst>
          </a:prstGeom>
          <a:solidFill>
            <a:srgbClr val="F3EFE6"/>
          </a:solidFill>
          <a:ln w="7620">
            <a:solidFill>
              <a:srgbClr val="C7C0B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603433" y="4133850"/>
            <a:ext cx="170626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OUT · 2</a:t>
            </a:r>
            <a:endParaRPr lang="en-US" sz="675" dirty="0"/>
          </a:p>
        </p:txBody>
      </p:sp>
      <p:sp>
        <p:nvSpPr>
          <p:cNvPr id="39" name="Shape 37"/>
          <p:cNvSpPr/>
          <p:nvPr/>
        </p:nvSpPr>
        <p:spPr>
          <a:xfrm>
            <a:off x="4603433" y="4314825"/>
            <a:ext cx="1551146" cy="50673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77728" y="4389120"/>
            <a:ext cx="15428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 × Dekmantel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677728" y="4572000"/>
            <a:ext cx="154281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⏳ awaiting promoter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6324124" y="4050030"/>
            <a:ext cx="1718786" cy="2358390"/>
          </a:xfrm>
          <a:prstGeom prst="roundRect">
            <a:avLst>
              <a:gd name="adj" fmla="val 4988"/>
            </a:avLst>
          </a:prstGeom>
          <a:solidFill>
            <a:srgbClr val="F3EFE6"/>
          </a:solidFill>
          <a:ln w="7620">
            <a:solidFill>
              <a:srgbClr val="C7C0B0"/>
            </a:solidFill>
            <a:prstDash val="dash"/>
          </a:ln>
        </p:spPr>
      </p:sp>
      <p:sp>
        <p:nvSpPr>
          <p:cNvPr id="43" name="Text 41"/>
          <p:cNvSpPr/>
          <p:nvPr/>
        </p:nvSpPr>
        <p:spPr>
          <a:xfrm>
            <a:off x="6407944" y="4133850"/>
            <a:ext cx="170626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· 4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6407944" y="4314825"/>
            <a:ext cx="1551146" cy="506730"/>
          </a:xfrm>
          <a:prstGeom prst="roundRect">
            <a:avLst>
              <a:gd name="adj" fmla="val 13158"/>
            </a:avLst>
          </a:prstGeom>
          <a:solidFill>
            <a:srgbClr val="EAFAF1"/>
          </a:solidFill>
          <a:ln w="7620">
            <a:solidFill>
              <a:srgbClr val="B6E3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82239" y="4389120"/>
            <a:ext cx="154281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LUNA × Berghain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6482239" y="4572000"/>
            <a:ext cx="154281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✓ contract signed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910590" y="6503670"/>
            <a:ext cx="784555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Drag a deal across stages · each card opens the full thread + terms + payment status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8591550" y="3190875"/>
            <a:ext cx="172250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· Booker — my requests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572500" y="3429000"/>
            <a:ext cx="3429000" cy="2579370"/>
          </a:xfrm>
          <a:prstGeom prst="roundRect">
            <a:avLst>
              <a:gd name="adj" fmla="val 5170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721090" y="3577590"/>
            <a:ext cx="344500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Your bookings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8721090" y="3931920"/>
            <a:ext cx="3131820" cy="790575"/>
          </a:xfrm>
          <a:prstGeom prst="roundRect">
            <a:avLst>
              <a:gd name="adj" fmla="val 10843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23960" y="4034790"/>
            <a:ext cx="39183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LUNA</a:t>
            </a:r>
            <a:endParaRPr lang="en-US" sz="1275" dirty="0"/>
          </a:p>
        </p:txBody>
      </p:sp>
      <p:sp>
        <p:nvSpPr>
          <p:cNvPr id="53" name="Text 51"/>
          <p:cNvSpPr/>
          <p:nvPr/>
        </p:nvSpPr>
        <p:spPr>
          <a:xfrm>
            <a:off x="11039952" y="4034790"/>
            <a:ext cx="786289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8823960" y="4318635"/>
            <a:ext cx="688658" cy="47625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55" name="Shape 53"/>
          <p:cNvSpPr/>
          <p:nvPr/>
        </p:nvSpPr>
        <p:spPr>
          <a:xfrm>
            <a:off x="9569768" y="4318635"/>
            <a:ext cx="688658" cy="47625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0315575" y="4318635"/>
            <a:ext cx="688658" cy="47625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061383" y="4318635"/>
            <a:ext cx="688658" cy="47625"/>
          </a:xfrm>
          <a:prstGeom prst="roundRect">
            <a:avLst>
              <a:gd name="adj" fmla="val 50000"/>
            </a:avLst>
          </a:prstGeom>
          <a:solidFill>
            <a:srgbClr val="DDD5C5"/>
          </a:solidFill>
          <a:ln/>
        </p:spPr>
      </p:sp>
      <p:sp>
        <p:nvSpPr>
          <p:cNvPr id="58" name="Text 56"/>
          <p:cNvSpPr/>
          <p:nvPr/>
        </p:nvSpPr>
        <p:spPr>
          <a:xfrm>
            <a:off x="8823960" y="4451985"/>
            <a:ext cx="473750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9760864" y="4451985"/>
            <a:ext cx="336352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talks</a:t>
            </a:r>
            <a:endParaRPr lang="en-US" sz="975" dirty="0"/>
          </a:p>
        </p:txBody>
      </p:sp>
      <p:sp>
        <p:nvSpPr>
          <p:cNvPr id="60" name="Text 58"/>
          <p:cNvSpPr/>
          <p:nvPr/>
        </p:nvSpPr>
        <p:spPr>
          <a:xfrm>
            <a:off x="10560248" y="4451985"/>
            <a:ext cx="345162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11368564" y="4451985"/>
            <a:ext cx="45767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settled</a:t>
            </a:r>
            <a:endParaRPr lang="en-US" sz="975" dirty="0"/>
          </a:p>
        </p:txBody>
      </p:sp>
      <p:sp>
        <p:nvSpPr>
          <p:cNvPr id="62" name="Shape 60"/>
          <p:cNvSpPr/>
          <p:nvPr/>
        </p:nvSpPr>
        <p:spPr>
          <a:xfrm>
            <a:off x="8721090" y="4808220"/>
            <a:ext cx="3131820" cy="1051560"/>
          </a:xfrm>
          <a:prstGeom prst="roundRect">
            <a:avLst>
              <a:gd name="adj" fmla="val 8152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23960" y="4911090"/>
            <a:ext cx="469940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</a:t>
            </a:r>
            <a:endParaRPr lang="en-US" sz="1275" dirty="0"/>
          </a:p>
        </p:txBody>
      </p:sp>
      <p:sp>
        <p:nvSpPr>
          <p:cNvPr id="64" name="Text 62"/>
          <p:cNvSpPr/>
          <p:nvPr/>
        </p:nvSpPr>
        <p:spPr>
          <a:xfrm>
            <a:off x="11213188" y="4911090"/>
            <a:ext cx="613053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C4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TALKS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8823960" y="5156835"/>
            <a:ext cx="321868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“Can we do a 90-min set?” — 2h ago</a:t>
            </a:r>
            <a:endParaRPr lang="en-US" sz="1125" dirty="0"/>
          </a:p>
        </p:txBody>
      </p:sp>
      <p:sp>
        <p:nvSpPr>
          <p:cNvPr id="66" name="Shape 64"/>
          <p:cNvSpPr/>
          <p:nvPr/>
        </p:nvSpPr>
        <p:spPr>
          <a:xfrm>
            <a:off x="8823960" y="5425440"/>
            <a:ext cx="2926080" cy="331470"/>
          </a:xfrm>
          <a:prstGeom prst="roundRect">
            <a:avLst>
              <a:gd name="adj" fmla="val 20115"/>
            </a:avLst>
          </a:prstGeom>
          <a:solidFill>
            <a:srgbClr val="FFF5EF"/>
          </a:solidFill>
          <a:ln w="7620">
            <a:solidFill>
              <a:srgbClr val="FFBA8C"/>
            </a:solidFill>
            <a:prstDash val="dash"/>
          </a:ln>
        </p:spPr>
      </p:sp>
      <p:sp>
        <p:nvSpPr>
          <p:cNvPr id="67" name="Text 65"/>
          <p:cNvSpPr/>
          <p:nvPr/>
        </p:nvSpPr>
        <p:spPr>
          <a:xfrm>
            <a:off x="8898255" y="5499735"/>
            <a:ext cx="286527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5460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↳ Reply / counter →</a:t>
            </a:r>
            <a:endParaRPr lang="en-US" sz="1125" dirty="0"/>
          </a:p>
        </p:txBody>
      </p:sp>
      <p:sp>
        <p:nvSpPr>
          <p:cNvPr id="68" name="Text 66"/>
          <p:cNvSpPr/>
          <p:nvPr/>
        </p:nvSpPr>
        <p:spPr>
          <a:xfrm>
            <a:off x="12401550" y="3190875"/>
            <a:ext cx="180907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· Artist — incoming offer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2382500" y="3429000"/>
            <a:ext cx="3238500" cy="2322195"/>
          </a:xfrm>
          <a:prstGeom prst="roundRect">
            <a:avLst>
              <a:gd name="adj" fmla="val 5742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2531090" y="3577590"/>
            <a:ext cx="323545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108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OFFER · expires 48h</a:t>
            </a:r>
            <a:endParaRPr lang="en-US" sz="675" dirty="0"/>
          </a:p>
        </p:txBody>
      </p:sp>
      <p:sp>
        <p:nvSpPr>
          <p:cNvPr id="71" name="Text 69"/>
          <p:cNvSpPr/>
          <p:nvPr/>
        </p:nvSpPr>
        <p:spPr>
          <a:xfrm>
            <a:off x="12531090" y="3739515"/>
            <a:ext cx="3235452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Warehouse rave · Berlin</a:t>
            </a:r>
            <a:endParaRPr lang="en-US" sz="1800" dirty="0"/>
          </a:p>
        </p:txBody>
      </p:sp>
      <p:sp>
        <p:nvSpPr>
          <p:cNvPr id="72" name="Text 70"/>
          <p:cNvSpPr/>
          <p:nvPr/>
        </p:nvSpPr>
        <p:spPr>
          <a:xfrm>
            <a:off x="12531090" y="4048125"/>
            <a:ext cx="323545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Sat 17 Oct · 90 min · headline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12531090" y="4343400"/>
            <a:ext cx="2941320" cy="777240"/>
          </a:xfrm>
          <a:prstGeom prst="roundRect">
            <a:avLst>
              <a:gd name="adj" fmla="val 11029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2633960" y="4446270"/>
            <a:ext cx="2437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Fee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14996399" y="4446270"/>
            <a:ext cx="44934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€8,000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12633960" y="4636770"/>
            <a:ext cx="77545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Travel + hotel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14990445" y="4636770"/>
            <a:ext cx="4552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covered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12633960" y="4827270"/>
            <a:ext cx="46005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Deposit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14758512" y="4827270"/>
            <a:ext cx="6872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50% escrow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2531090" y="5225415"/>
            <a:ext cx="1144905" cy="37719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81" name="Text 79"/>
          <p:cNvSpPr/>
          <p:nvPr/>
        </p:nvSpPr>
        <p:spPr>
          <a:xfrm>
            <a:off x="12578715" y="5311140"/>
            <a:ext cx="1049655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Accept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13742670" y="5225415"/>
            <a:ext cx="1160264" cy="377190"/>
          </a:xfrm>
          <a:prstGeom prst="roundRect">
            <a:avLst>
              <a:gd name="adj" fmla="val 50000"/>
            </a:avLst>
          </a:prstGeom>
          <a:ln w="7620">
            <a:solidFill>
              <a:srgbClr val="2B2A2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3797915" y="5318760"/>
            <a:ext cx="104977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Counter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14969610" y="5225415"/>
            <a:ext cx="502801" cy="377190"/>
          </a:xfrm>
          <a:prstGeom prst="roundRect">
            <a:avLst>
              <a:gd name="adj" fmla="val 50000"/>
            </a:avLst>
          </a:prstGeom>
          <a:ln w="7620">
            <a:solidFill>
              <a:srgbClr val="D8C9C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5062955" y="5318760"/>
            <a:ext cx="31611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006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Pass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762000" y="9620250"/>
            <a:ext cx="2257508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 · Swipe the Scene</a:t>
            </a:r>
            <a:endParaRPr lang="en-US" sz="2250" dirty="0"/>
          </a:p>
        </p:txBody>
      </p:sp>
      <p:sp>
        <p:nvSpPr>
          <p:cNvPr id="87" name="Text 85"/>
          <p:cNvSpPr/>
          <p:nvPr/>
        </p:nvSpPr>
        <p:spPr>
          <a:xfrm>
            <a:off x="762000" y="10020300"/>
            <a:ext cx="6082665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Discovery-first. A full-bleed vertical feed of artists with audio previews and a live availability chip. Booking starts the second something hits — quick-book sheet, no profile detour required.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 rot="-66000">
            <a:off x="11239499" y="9678352"/>
            <a:ext cx="2266951" cy="609600"/>
          </a:xfrm>
          <a:prstGeom prst="rect">
            <a:avLst/>
          </a:prstGeom>
          <a:solidFill>
            <a:srgbClr val="FEF4A8"/>
          </a:solidFill>
          <a:ln/>
          <a:effectLst>
            <a:outerShdw sx="100000" sy="100000" kx="0" ky="0" algn="bl" rotWithShape="0" blurRad="57150" dist="19050" dir="5400000">
              <a:srgbClr val="000000">
                <a:alpha val="16000"/>
              </a:srgbClr>
            </a:outerShdw>
          </a:effectLst>
        </p:spPr>
      </p:sp>
      <p:sp>
        <p:nvSpPr>
          <p:cNvPr id="89" name="Text 87"/>
          <p:cNvSpPr/>
          <p:nvPr/>
        </p:nvSpPr>
        <p:spPr>
          <a:xfrm rot="-66000">
            <a:off x="11372849" y="9792652"/>
            <a:ext cx="207645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Best if the magic is </a:t>
            </a:r>
            <a:pPr algn="l" indent="0" marL="0">
              <a:lnSpc>
                <a:spcPct val="134000"/>
              </a:lnSpc>
              <a:buNone/>
            </a:pPr>
            <a:r>
              <a:rPr lang="en-US" sz="1125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taste &amp; momentum </a:t>
            </a:r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— feels like the culture, not a directory.</a:t>
            </a:r>
            <a:endParaRPr lang="en-US" sz="1125" dirty="0"/>
          </a:p>
        </p:txBody>
      </p:sp>
      <p:sp>
        <p:nvSpPr>
          <p:cNvPr id="90" name="Text 88"/>
          <p:cNvSpPr/>
          <p:nvPr/>
        </p:nvSpPr>
        <p:spPr>
          <a:xfrm>
            <a:off x="781050" y="10620375"/>
            <a:ext cx="14724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· Booker — the feed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762000" y="10858500"/>
            <a:ext cx="2857500" cy="4080510"/>
          </a:xfrm>
          <a:prstGeom prst="roundRect">
            <a:avLst>
              <a:gd name="adj" fmla="val 6667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62965" y="10959465"/>
            <a:ext cx="2655570" cy="3158490"/>
          </a:xfrm>
          <a:prstGeom prst="roundRect">
            <a:avLst>
              <a:gd name="adj" fmla="val 5022"/>
            </a:avLst>
          </a:prstGeom>
          <a:solidFill>
            <a:srgbClr val="ECE8DF"/>
          </a:solidFill>
          <a:ln w="7620">
            <a:solidFill>
              <a:srgbClr val="CFC8B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56310" y="11052810"/>
            <a:ext cx="14308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8A83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FULL-BLEED PHOTO / CLIP</a:t>
            </a:r>
            <a:endParaRPr lang="en-US" sz="675" dirty="0"/>
          </a:p>
        </p:txBody>
      </p:sp>
      <p:sp>
        <p:nvSpPr>
          <p:cNvPr id="94" name="Shape 92"/>
          <p:cNvSpPr/>
          <p:nvPr/>
        </p:nvSpPr>
        <p:spPr>
          <a:xfrm>
            <a:off x="2578775" y="11052810"/>
            <a:ext cx="846415" cy="179070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/>
        </p:spPr>
      </p:sp>
      <p:sp>
        <p:nvSpPr>
          <p:cNvPr id="95" name="Text 93"/>
          <p:cNvSpPr/>
          <p:nvPr/>
        </p:nvSpPr>
        <p:spPr>
          <a:xfrm>
            <a:off x="2664500" y="11081385"/>
            <a:ext cx="75116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OPEN · OCT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975360" y="13496925"/>
            <a:ext cx="225862" cy="99060"/>
          </a:xfrm>
          <a:prstGeom prst="roundRect">
            <a:avLst>
              <a:gd name="adj" fmla="val 19231"/>
            </a:avLst>
          </a:prstGeom>
          <a:solidFill>
            <a:srgbClr val="FF5F00"/>
          </a:solidFill>
          <a:ln/>
        </p:spPr>
      </p:sp>
      <p:sp>
        <p:nvSpPr>
          <p:cNvPr id="97" name="Shape 95"/>
          <p:cNvSpPr/>
          <p:nvPr/>
        </p:nvSpPr>
        <p:spPr>
          <a:xfrm>
            <a:off x="1220272" y="13397865"/>
            <a:ext cx="225981" cy="198120"/>
          </a:xfrm>
          <a:prstGeom prst="roundRect">
            <a:avLst>
              <a:gd name="adj" fmla="val 9615"/>
            </a:avLst>
          </a:prstGeom>
          <a:solidFill>
            <a:srgbClr val="FF5F00"/>
          </a:solidFill>
          <a:ln/>
        </p:spPr>
      </p:sp>
      <p:sp>
        <p:nvSpPr>
          <p:cNvPr id="98" name="Shape 96"/>
          <p:cNvSpPr/>
          <p:nvPr/>
        </p:nvSpPr>
        <p:spPr>
          <a:xfrm>
            <a:off x="1465302" y="13459777"/>
            <a:ext cx="225862" cy="136208"/>
          </a:xfrm>
          <a:prstGeom prst="roundRect">
            <a:avLst>
              <a:gd name="adj" fmla="val 13986"/>
            </a:avLst>
          </a:prstGeom>
          <a:solidFill>
            <a:srgbClr val="FF5F00"/>
          </a:solidFill>
          <a:ln/>
        </p:spPr>
      </p:sp>
      <p:sp>
        <p:nvSpPr>
          <p:cNvPr id="99" name="Shape 97"/>
          <p:cNvSpPr/>
          <p:nvPr/>
        </p:nvSpPr>
        <p:spPr>
          <a:xfrm>
            <a:off x="1710214" y="13360718"/>
            <a:ext cx="225981" cy="235268"/>
          </a:xfrm>
          <a:prstGeom prst="roundRect">
            <a:avLst>
              <a:gd name="adj" fmla="val 8430"/>
            </a:avLst>
          </a:prstGeom>
          <a:solidFill>
            <a:srgbClr val="FF5F00"/>
          </a:solidFill>
          <a:ln/>
        </p:spPr>
      </p:sp>
      <p:sp>
        <p:nvSpPr>
          <p:cNvPr id="100" name="Shape 98"/>
          <p:cNvSpPr/>
          <p:nvPr/>
        </p:nvSpPr>
        <p:spPr>
          <a:xfrm>
            <a:off x="1955244" y="13509308"/>
            <a:ext cx="225862" cy="86678"/>
          </a:xfrm>
          <a:prstGeom prst="roundRect">
            <a:avLst>
              <a:gd name="adj" fmla="val 21978"/>
            </a:avLst>
          </a:prstGeom>
          <a:solidFill>
            <a:srgbClr val="FF8A4A"/>
          </a:solidFill>
          <a:ln/>
        </p:spPr>
      </p:sp>
      <p:sp>
        <p:nvSpPr>
          <p:cNvPr id="101" name="Shape 99"/>
          <p:cNvSpPr/>
          <p:nvPr/>
        </p:nvSpPr>
        <p:spPr>
          <a:xfrm>
            <a:off x="2200156" y="13422631"/>
            <a:ext cx="225981" cy="173355"/>
          </a:xfrm>
          <a:prstGeom prst="roundRect">
            <a:avLst>
              <a:gd name="adj" fmla="val 10989"/>
            </a:avLst>
          </a:prstGeom>
          <a:solidFill>
            <a:srgbClr val="FF8A4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2445187" y="13472160"/>
            <a:ext cx="225862" cy="123825"/>
          </a:xfrm>
          <a:prstGeom prst="roundRect">
            <a:avLst>
              <a:gd name="adj" fmla="val 15385"/>
            </a:avLst>
          </a:prstGeom>
          <a:solidFill>
            <a:srgbClr val="FFB98A"/>
          </a:solidFill>
          <a:ln/>
        </p:spPr>
      </p:sp>
      <p:sp>
        <p:nvSpPr>
          <p:cNvPr id="103" name="Shape 101"/>
          <p:cNvSpPr/>
          <p:nvPr/>
        </p:nvSpPr>
        <p:spPr>
          <a:xfrm>
            <a:off x="2690098" y="13385483"/>
            <a:ext cx="225981" cy="210503"/>
          </a:xfrm>
          <a:prstGeom prst="roundRect">
            <a:avLst>
              <a:gd name="adj" fmla="val 9050"/>
            </a:avLst>
          </a:prstGeom>
          <a:solidFill>
            <a:srgbClr val="FFB98A"/>
          </a:solidFill>
          <a:ln/>
        </p:spPr>
      </p:sp>
      <p:sp>
        <p:nvSpPr>
          <p:cNvPr id="104" name="Shape 102"/>
          <p:cNvSpPr/>
          <p:nvPr/>
        </p:nvSpPr>
        <p:spPr>
          <a:xfrm>
            <a:off x="2935129" y="13484543"/>
            <a:ext cx="225981" cy="111442"/>
          </a:xfrm>
          <a:prstGeom prst="roundRect">
            <a:avLst>
              <a:gd name="adj" fmla="val 17094"/>
            </a:avLst>
          </a:prstGeom>
          <a:solidFill>
            <a:srgbClr val="FFD0B0"/>
          </a:solidFill>
          <a:ln/>
        </p:spPr>
      </p:sp>
      <p:sp>
        <p:nvSpPr>
          <p:cNvPr id="105" name="Shape 103"/>
          <p:cNvSpPr/>
          <p:nvPr/>
        </p:nvSpPr>
        <p:spPr>
          <a:xfrm>
            <a:off x="3180159" y="13435013"/>
            <a:ext cx="225981" cy="160972"/>
          </a:xfrm>
          <a:prstGeom prst="roundRect">
            <a:avLst>
              <a:gd name="adj" fmla="val 11834"/>
            </a:avLst>
          </a:prstGeom>
          <a:solidFill>
            <a:srgbClr val="FFD0B0"/>
          </a:solidFill>
          <a:ln/>
        </p:spPr>
      </p:sp>
      <p:sp>
        <p:nvSpPr>
          <p:cNvPr id="106" name="Text 104"/>
          <p:cNvSpPr/>
          <p:nvPr/>
        </p:nvSpPr>
        <p:spPr>
          <a:xfrm>
            <a:off x="984885" y="13515975"/>
            <a:ext cx="742474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SOBA</a:t>
            </a:r>
            <a:endParaRPr lang="en-US" sz="1950" dirty="0"/>
          </a:p>
        </p:txBody>
      </p:sp>
      <p:sp>
        <p:nvSpPr>
          <p:cNvPr id="107" name="Text 105"/>
          <p:cNvSpPr/>
          <p:nvPr/>
        </p:nvSpPr>
        <p:spPr>
          <a:xfrm>
            <a:off x="984885" y="13828395"/>
            <a:ext cx="74247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362E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hyperpop · ATL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862965" y="14203681"/>
            <a:ext cx="1761649" cy="40005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109" name="Text 107"/>
          <p:cNvSpPr/>
          <p:nvPr/>
        </p:nvSpPr>
        <p:spPr>
          <a:xfrm>
            <a:off x="910590" y="14289406"/>
            <a:ext cx="166639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Quick-book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2691289" y="14203681"/>
            <a:ext cx="367308" cy="400050"/>
          </a:xfrm>
          <a:prstGeom prst="ellipse">
            <a:avLst/>
          </a:prstGeom>
          <a:ln w="7620">
            <a:solidFill>
              <a:srgbClr val="2B2A2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822734" y="14297026"/>
            <a:ext cx="180618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♡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3125272" y="14203681"/>
            <a:ext cx="393263" cy="400050"/>
          </a:xfrm>
          <a:prstGeom prst="ellipse">
            <a:avLst/>
          </a:prstGeom>
          <a:ln w="7620">
            <a:solidFill>
              <a:srgbClr val="2B2A2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256717" y="14297026"/>
            <a:ext cx="206573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▷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730186" y="14670406"/>
            <a:ext cx="292112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↑ swipe for next ↑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4019550" y="10620375"/>
            <a:ext cx="11272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 · Tune the feed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000500" y="10858500"/>
            <a:ext cx="3143250" cy="3341370"/>
          </a:xfrm>
          <a:prstGeom prst="roundRect">
            <a:avLst>
              <a:gd name="adj" fmla="val 4242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117" name="Text 115"/>
          <p:cNvSpPr/>
          <p:nvPr/>
        </p:nvSpPr>
        <p:spPr>
          <a:xfrm>
            <a:off x="4149090" y="11007090"/>
            <a:ext cx="313067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What are you booking?</a:t>
            </a:r>
            <a:endParaRPr lang="en-US" sz="1650" dirty="0"/>
          </a:p>
        </p:txBody>
      </p:sp>
      <p:sp>
        <p:nvSpPr>
          <p:cNvPr id="118" name="Text 116"/>
          <p:cNvSpPr/>
          <p:nvPr/>
        </p:nvSpPr>
        <p:spPr>
          <a:xfrm>
            <a:off x="4149090" y="11370945"/>
            <a:ext cx="31306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675" dirty="0"/>
          </a:p>
        </p:txBody>
      </p:sp>
      <p:sp>
        <p:nvSpPr>
          <p:cNvPr id="119" name="Shape 117"/>
          <p:cNvSpPr/>
          <p:nvPr/>
        </p:nvSpPr>
        <p:spPr>
          <a:xfrm>
            <a:off x="4149090" y="11542395"/>
            <a:ext cx="357545" cy="29337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120" name="Text 118"/>
          <p:cNvSpPr/>
          <p:nvPr/>
        </p:nvSpPr>
        <p:spPr>
          <a:xfrm>
            <a:off x="4263390" y="11590020"/>
            <a:ext cx="20514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DJ</a:t>
            </a:r>
            <a:endParaRPr lang="en-US" sz="1125" dirty="0"/>
          </a:p>
        </p:txBody>
      </p:sp>
      <p:sp>
        <p:nvSpPr>
          <p:cNvPr id="121" name="Shape 119"/>
          <p:cNvSpPr/>
          <p:nvPr/>
        </p:nvSpPr>
        <p:spPr>
          <a:xfrm>
            <a:off x="4563785" y="11542395"/>
            <a:ext cx="564594" cy="293370"/>
          </a:xfrm>
          <a:prstGeom prst="roundRect">
            <a:avLst>
              <a:gd name="adj" fmla="val 50000"/>
            </a:avLst>
          </a:prstGeom>
          <a:ln w="7620">
            <a:solidFill>
              <a:srgbClr val="CABFA9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685705" y="11597640"/>
            <a:ext cx="396954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54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rapper</a:t>
            </a:r>
            <a:endParaRPr lang="en-US" sz="1125" dirty="0"/>
          </a:p>
        </p:txBody>
      </p:sp>
      <p:sp>
        <p:nvSpPr>
          <p:cNvPr id="123" name="Shape 121"/>
          <p:cNvSpPr/>
          <p:nvPr/>
        </p:nvSpPr>
        <p:spPr>
          <a:xfrm>
            <a:off x="5185529" y="11542395"/>
            <a:ext cx="660797" cy="293370"/>
          </a:xfrm>
          <a:prstGeom prst="roundRect">
            <a:avLst>
              <a:gd name="adj" fmla="val 50000"/>
            </a:avLst>
          </a:prstGeom>
          <a:ln w="7620">
            <a:solidFill>
              <a:srgbClr val="CABFA9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307449" y="11597640"/>
            <a:ext cx="49315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54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producer</a:t>
            </a:r>
            <a:endParaRPr lang="en-US" sz="1125" dirty="0"/>
          </a:p>
        </p:txBody>
      </p:sp>
      <p:sp>
        <p:nvSpPr>
          <p:cNvPr id="125" name="Shape 123"/>
          <p:cNvSpPr/>
          <p:nvPr/>
        </p:nvSpPr>
        <p:spPr>
          <a:xfrm>
            <a:off x="5903476" y="11542395"/>
            <a:ext cx="490895" cy="293370"/>
          </a:xfrm>
          <a:prstGeom prst="roundRect">
            <a:avLst>
              <a:gd name="adj" fmla="val 50000"/>
            </a:avLst>
          </a:prstGeom>
          <a:ln w="7620">
            <a:solidFill>
              <a:srgbClr val="CABFA9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6025396" y="11597640"/>
            <a:ext cx="32325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5C554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band</a:t>
            </a:r>
            <a:endParaRPr lang="en-US" sz="1125" dirty="0"/>
          </a:p>
        </p:txBody>
      </p:sp>
      <p:sp>
        <p:nvSpPr>
          <p:cNvPr id="127" name="Text 125"/>
          <p:cNvSpPr/>
          <p:nvPr/>
        </p:nvSpPr>
        <p:spPr>
          <a:xfrm>
            <a:off x="4149090" y="11950065"/>
            <a:ext cx="31306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/ DATE</a:t>
            </a:r>
            <a:endParaRPr lang="en-US" sz="675" dirty="0"/>
          </a:p>
        </p:txBody>
      </p:sp>
      <p:sp>
        <p:nvSpPr>
          <p:cNvPr id="128" name="Shape 126"/>
          <p:cNvSpPr/>
          <p:nvPr/>
        </p:nvSpPr>
        <p:spPr>
          <a:xfrm>
            <a:off x="4149090" y="12121515"/>
            <a:ext cx="2846070" cy="377190"/>
          </a:xfrm>
          <a:prstGeom prst="roundRect">
            <a:avLst>
              <a:gd name="adj" fmla="val 20202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242435" y="12214860"/>
            <a:ext cx="27447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Berlin · within 50km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4149090" y="12574906"/>
            <a:ext cx="2846070" cy="377190"/>
          </a:xfrm>
          <a:prstGeom prst="roundRect">
            <a:avLst>
              <a:gd name="adj" fmla="val 20202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242435" y="12668251"/>
            <a:ext cx="27447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Oct 10 – Oct 20</a:t>
            </a:r>
            <a:endParaRPr lang="en-US" sz="1200" dirty="0"/>
          </a:p>
        </p:txBody>
      </p:sp>
      <p:sp>
        <p:nvSpPr>
          <p:cNvPr id="132" name="Text 130"/>
          <p:cNvSpPr/>
          <p:nvPr/>
        </p:nvSpPr>
        <p:spPr>
          <a:xfrm>
            <a:off x="4149090" y="13066395"/>
            <a:ext cx="31306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95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</a:t>
            </a:r>
            <a:endParaRPr lang="en-US" sz="675" dirty="0"/>
          </a:p>
        </p:txBody>
      </p:sp>
      <p:sp>
        <p:nvSpPr>
          <p:cNvPr id="133" name="Shape 131"/>
          <p:cNvSpPr/>
          <p:nvPr/>
        </p:nvSpPr>
        <p:spPr>
          <a:xfrm>
            <a:off x="4187190" y="13304520"/>
            <a:ext cx="2769870" cy="47625"/>
          </a:xfrm>
          <a:prstGeom prst="roundRect">
            <a:avLst>
              <a:gd name="adj" fmla="val 50000"/>
            </a:avLst>
          </a:prstGeom>
          <a:solidFill>
            <a:srgbClr val="DDD5C5"/>
          </a:solidFill>
          <a:ln/>
        </p:spPr>
      </p:sp>
      <p:sp>
        <p:nvSpPr>
          <p:cNvPr id="134" name="Shape 132"/>
          <p:cNvSpPr/>
          <p:nvPr/>
        </p:nvSpPr>
        <p:spPr>
          <a:xfrm>
            <a:off x="4187190" y="13304520"/>
            <a:ext cx="1717238" cy="47625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135" name="Shape 133"/>
          <p:cNvSpPr/>
          <p:nvPr/>
        </p:nvSpPr>
        <p:spPr>
          <a:xfrm>
            <a:off x="5849064" y="13247370"/>
            <a:ext cx="192405" cy="192405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5F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149090" y="13428345"/>
            <a:ext cx="24574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€2k</a:t>
            </a:r>
            <a:endParaRPr lang="en-US" sz="1050" dirty="0"/>
          </a:p>
        </p:txBody>
      </p:sp>
      <p:sp>
        <p:nvSpPr>
          <p:cNvPr id="137" name="Text 135"/>
          <p:cNvSpPr/>
          <p:nvPr/>
        </p:nvSpPr>
        <p:spPr>
          <a:xfrm>
            <a:off x="6767036" y="13428345"/>
            <a:ext cx="304324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€15k</a:t>
            </a:r>
            <a:endParaRPr lang="en-US" sz="1050" dirty="0"/>
          </a:p>
        </p:txBody>
      </p:sp>
      <p:sp>
        <p:nvSpPr>
          <p:cNvPr id="138" name="Shape 136"/>
          <p:cNvSpPr/>
          <p:nvPr/>
        </p:nvSpPr>
        <p:spPr>
          <a:xfrm>
            <a:off x="4149090" y="13719810"/>
            <a:ext cx="2846070" cy="9525"/>
          </a:xfrm>
          <a:prstGeom prst="rect">
            <a:avLst/>
          </a:prstGeom>
          <a:solidFill>
            <a:srgbClr val="E4DDCD"/>
          </a:solidFill>
          <a:ln/>
        </p:spPr>
      </p:sp>
      <p:sp>
        <p:nvSpPr>
          <p:cNvPr id="139" name="Text 137"/>
          <p:cNvSpPr/>
          <p:nvPr/>
        </p:nvSpPr>
        <p:spPr>
          <a:xfrm>
            <a:off x="4149090" y="13846493"/>
            <a:ext cx="101274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Available now only</a:t>
            </a:r>
            <a:endParaRPr lang="en-US" sz="1200" dirty="0"/>
          </a:p>
        </p:txBody>
      </p:sp>
      <p:sp>
        <p:nvSpPr>
          <p:cNvPr id="140" name="Shape 138"/>
          <p:cNvSpPr/>
          <p:nvPr/>
        </p:nvSpPr>
        <p:spPr>
          <a:xfrm>
            <a:off x="6595110" y="13832206"/>
            <a:ext cx="400050" cy="219075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795135" y="13851256"/>
            <a:ext cx="180975" cy="18097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2" name="Text 140"/>
          <p:cNvSpPr/>
          <p:nvPr/>
        </p:nvSpPr>
        <p:spPr>
          <a:xfrm>
            <a:off x="7543800" y="10620375"/>
            <a:ext cx="139638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B3 · Quick-book sheet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7524750" y="10858500"/>
            <a:ext cx="3048000" cy="3449955"/>
          </a:xfrm>
          <a:prstGeom prst="roundRect">
            <a:avLst>
              <a:gd name="adj" fmla="val 4375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144" name="Shape 142"/>
          <p:cNvSpPr/>
          <p:nvPr/>
        </p:nvSpPr>
        <p:spPr>
          <a:xfrm>
            <a:off x="8858250" y="1100709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D8D1C2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673340" y="11161395"/>
            <a:ext cx="415290" cy="415290"/>
          </a:xfrm>
          <a:prstGeom prst="roundRect">
            <a:avLst>
              <a:gd name="adj" fmla="val 22936"/>
            </a:avLst>
          </a:prstGeom>
          <a:solidFill>
            <a:srgbClr val="ECE8DF"/>
          </a:solidFill>
          <a:ln w="7620">
            <a:solidFill>
              <a:srgbClr val="CFC8B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8174355" y="11159490"/>
            <a:ext cx="860703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Book SOBA</a:t>
            </a:r>
            <a:endParaRPr lang="en-US" sz="1500" dirty="0"/>
          </a:p>
        </p:txBody>
      </p:sp>
      <p:sp>
        <p:nvSpPr>
          <p:cNvPr id="147" name="Text 145"/>
          <p:cNvSpPr/>
          <p:nvPr/>
        </p:nvSpPr>
        <p:spPr>
          <a:xfrm>
            <a:off x="8174355" y="11403331"/>
            <a:ext cx="86070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● open Oct 10–20</a:t>
            </a:r>
            <a:endParaRPr lang="en-US" sz="975" dirty="0"/>
          </a:p>
        </p:txBody>
      </p:sp>
      <p:sp>
        <p:nvSpPr>
          <p:cNvPr id="148" name="Text 146"/>
          <p:cNvSpPr/>
          <p:nvPr/>
        </p:nvSpPr>
        <p:spPr>
          <a:xfrm>
            <a:off x="7673340" y="11692890"/>
            <a:ext cx="147104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</a:t>
            </a:r>
            <a:endParaRPr lang="en-US" sz="675" dirty="0"/>
          </a:p>
        </p:txBody>
      </p:sp>
      <p:sp>
        <p:nvSpPr>
          <p:cNvPr id="149" name="Shape 147"/>
          <p:cNvSpPr/>
          <p:nvPr/>
        </p:nvSpPr>
        <p:spPr>
          <a:xfrm>
            <a:off x="7673340" y="11845290"/>
            <a:ext cx="133731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7757160" y="11929110"/>
            <a:ext cx="124587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Oct 17</a:t>
            </a:r>
            <a:endParaRPr lang="en-US" sz="1125" dirty="0"/>
          </a:p>
        </p:txBody>
      </p:sp>
      <p:sp>
        <p:nvSpPr>
          <p:cNvPr id="151" name="Text 149"/>
          <p:cNvSpPr/>
          <p:nvPr/>
        </p:nvSpPr>
        <p:spPr>
          <a:xfrm>
            <a:off x="9086850" y="11692890"/>
            <a:ext cx="147104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</a:t>
            </a:r>
            <a:endParaRPr lang="en-US" sz="675" dirty="0"/>
          </a:p>
        </p:txBody>
      </p:sp>
      <p:sp>
        <p:nvSpPr>
          <p:cNvPr id="152" name="Shape 150"/>
          <p:cNvSpPr/>
          <p:nvPr/>
        </p:nvSpPr>
        <p:spPr>
          <a:xfrm>
            <a:off x="9086850" y="11845290"/>
            <a:ext cx="133731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9170670" y="11929110"/>
            <a:ext cx="124587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90 min</a:t>
            </a:r>
            <a:endParaRPr lang="en-US" sz="1125" dirty="0"/>
          </a:p>
        </p:txBody>
      </p:sp>
      <p:sp>
        <p:nvSpPr>
          <p:cNvPr id="154" name="Text 152"/>
          <p:cNvSpPr/>
          <p:nvPr/>
        </p:nvSpPr>
        <p:spPr>
          <a:xfrm>
            <a:off x="7673340" y="12281535"/>
            <a:ext cx="30259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VENUE</a:t>
            </a:r>
            <a:endParaRPr lang="en-US" sz="675" dirty="0"/>
          </a:p>
        </p:txBody>
      </p:sp>
      <p:sp>
        <p:nvSpPr>
          <p:cNvPr id="155" name="Shape 153"/>
          <p:cNvSpPr/>
          <p:nvPr/>
        </p:nvSpPr>
        <p:spPr>
          <a:xfrm>
            <a:off x="7673340" y="12433935"/>
            <a:ext cx="2750820" cy="35052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7757160" y="12517755"/>
            <a:ext cx="266570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 Warehouse, Berlin</a:t>
            </a:r>
            <a:endParaRPr lang="en-US" sz="1125" dirty="0"/>
          </a:p>
        </p:txBody>
      </p:sp>
      <p:sp>
        <p:nvSpPr>
          <p:cNvPr id="157" name="Text 155"/>
          <p:cNvSpPr/>
          <p:nvPr/>
        </p:nvSpPr>
        <p:spPr>
          <a:xfrm>
            <a:off x="7673340" y="12870181"/>
            <a:ext cx="30259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OFFER</a:t>
            </a:r>
            <a:endParaRPr lang="en-US" sz="675" dirty="0"/>
          </a:p>
        </p:txBody>
      </p:sp>
      <p:sp>
        <p:nvSpPr>
          <p:cNvPr id="158" name="Shape 156"/>
          <p:cNvSpPr/>
          <p:nvPr/>
        </p:nvSpPr>
        <p:spPr>
          <a:xfrm>
            <a:off x="7673340" y="13022581"/>
            <a:ext cx="2750820" cy="36576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7757160" y="13106401"/>
            <a:ext cx="266570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€8,000</a:t>
            </a:r>
            <a:endParaRPr lang="en-US" sz="1275" dirty="0"/>
          </a:p>
        </p:txBody>
      </p:sp>
      <p:sp>
        <p:nvSpPr>
          <p:cNvPr id="160" name="Shape 158"/>
          <p:cNvSpPr/>
          <p:nvPr/>
        </p:nvSpPr>
        <p:spPr>
          <a:xfrm>
            <a:off x="7673340" y="13502640"/>
            <a:ext cx="2750820" cy="43053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161" name="Text 159"/>
          <p:cNvSpPr/>
          <p:nvPr/>
        </p:nvSpPr>
        <p:spPr>
          <a:xfrm>
            <a:off x="7736853" y="13607415"/>
            <a:ext cx="262379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Send request →</a:t>
            </a:r>
            <a:endParaRPr lang="en-US" sz="1350" dirty="0"/>
          </a:p>
        </p:txBody>
      </p:sp>
      <p:sp>
        <p:nvSpPr>
          <p:cNvPr id="162" name="Text 160"/>
          <p:cNvSpPr/>
          <p:nvPr/>
        </p:nvSpPr>
        <p:spPr>
          <a:xfrm>
            <a:off x="7535799" y="13999845"/>
            <a:ext cx="30259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funds held in escrow until confirmed</a:t>
            </a:r>
            <a:endParaRPr lang="en-US" sz="975" dirty="0"/>
          </a:p>
        </p:txBody>
      </p:sp>
      <p:sp>
        <p:nvSpPr>
          <p:cNvPr id="163" name="Text 161"/>
          <p:cNvSpPr/>
          <p:nvPr/>
        </p:nvSpPr>
        <p:spPr>
          <a:xfrm>
            <a:off x="762000" y="15430500"/>
            <a:ext cx="237354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 · Book the Window</a:t>
            </a:r>
            <a:endParaRPr lang="en-US" sz="2250" dirty="0"/>
          </a:p>
        </p:txBody>
      </p:sp>
      <p:sp>
        <p:nvSpPr>
          <p:cNvPr id="164" name="Text 162"/>
          <p:cNvSpPr/>
          <p:nvPr/>
        </p:nvSpPr>
        <p:spPr>
          <a:xfrm>
            <a:off x="762000" y="15830550"/>
            <a:ext cx="627888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Time is the spine. Artists publish open windows; bookers request into a slot; the manager runs a roster calendar — holds, confirmed shows, travel, blackout — all in one grid. Double-booking becomes impossible.</a:t>
            </a:r>
            <a:endParaRPr lang="en-US" sz="1350" dirty="0"/>
          </a:p>
        </p:txBody>
      </p:sp>
      <p:sp>
        <p:nvSpPr>
          <p:cNvPr id="165" name="Shape 163"/>
          <p:cNvSpPr/>
          <p:nvPr/>
        </p:nvSpPr>
        <p:spPr>
          <a:xfrm rot="78000">
            <a:off x="11239500" y="15488603"/>
            <a:ext cx="2266951" cy="609600"/>
          </a:xfrm>
          <a:prstGeom prst="rect">
            <a:avLst/>
          </a:prstGeom>
          <a:solidFill>
            <a:srgbClr val="FEF4A8"/>
          </a:solidFill>
          <a:ln/>
          <a:effectLst>
            <a:outerShdw sx="100000" sy="100000" kx="0" ky="0" algn="bl" rotWithShape="0" blurRad="57150" dist="19050" dir="5400000">
              <a:srgbClr val="000000">
                <a:alpha val="16000"/>
              </a:srgbClr>
            </a:outerShdw>
          </a:effectLst>
        </p:spPr>
      </p:sp>
      <p:sp>
        <p:nvSpPr>
          <p:cNvPr id="166" name="Text 164"/>
          <p:cNvSpPr/>
          <p:nvPr/>
        </p:nvSpPr>
        <p:spPr>
          <a:xfrm rot="78000">
            <a:off x="11372850" y="15602903"/>
            <a:ext cx="207645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Best if the pain is </a:t>
            </a:r>
            <a:pPr algn="l" indent="0" marL="0">
              <a:lnSpc>
                <a:spcPct val="134000"/>
              </a:lnSpc>
              <a:buNone/>
            </a:pPr>
            <a:r>
              <a:rPr lang="en-US" sz="1125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scheduling chaos </a:t>
            </a:r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across many artists &amp; tours.</a:t>
            </a:r>
            <a:endParaRPr lang="en-US" sz="1125" dirty="0"/>
          </a:p>
        </p:txBody>
      </p:sp>
      <p:sp>
        <p:nvSpPr>
          <p:cNvPr id="167" name="Text 165"/>
          <p:cNvSpPr/>
          <p:nvPr/>
        </p:nvSpPr>
        <p:spPr>
          <a:xfrm>
            <a:off x="781050" y="16525875"/>
            <a:ext cx="176703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· Artist — open windows</a:t>
            </a:r>
            <a:endParaRPr lang="en-US" sz="900" dirty="0"/>
          </a:p>
        </p:txBody>
      </p:sp>
      <p:sp>
        <p:nvSpPr>
          <p:cNvPr id="168" name="Shape 166"/>
          <p:cNvSpPr/>
          <p:nvPr/>
        </p:nvSpPr>
        <p:spPr>
          <a:xfrm>
            <a:off x="762000" y="16764000"/>
            <a:ext cx="3143250" cy="2406015"/>
          </a:xfrm>
          <a:prstGeom prst="roundRect">
            <a:avLst>
              <a:gd name="adj" fmla="val 5542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10590" y="16912590"/>
            <a:ext cx="631984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</a:t>
            </a:r>
            <a:endParaRPr lang="en-US" sz="1800" dirty="0"/>
          </a:p>
        </p:txBody>
      </p:sp>
      <p:sp>
        <p:nvSpPr>
          <p:cNvPr id="170" name="Text 168"/>
          <p:cNvSpPr/>
          <p:nvPr/>
        </p:nvSpPr>
        <p:spPr>
          <a:xfrm>
            <a:off x="2829997" y="17034510"/>
            <a:ext cx="100286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2026 ▾</a:t>
            </a:r>
            <a:endParaRPr lang="en-US" sz="750" dirty="0"/>
          </a:p>
        </p:txBody>
      </p:sp>
      <p:sp>
        <p:nvSpPr>
          <p:cNvPr id="171" name="Text 169"/>
          <p:cNvSpPr/>
          <p:nvPr/>
        </p:nvSpPr>
        <p:spPr>
          <a:xfrm>
            <a:off x="872490" y="17306925"/>
            <a:ext cx="441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675" dirty="0"/>
          </a:p>
        </p:txBody>
      </p:sp>
      <p:sp>
        <p:nvSpPr>
          <p:cNvPr id="172" name="Text 170"/>
          <p:cNvSpPr/>
          <p:nvPr/>
        </p:nvSpPr>
        <p:spPr>
          <a:xfrm>
            <a:off x="1285875" y="17306925"/>
            <a:ext cx="441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675" dirty="0"/>
          </a:p>
        </p:txBody>
      </p:sp>
      <p:sp>
        <p:nvSpPr>
          <p:cNvPr id="173" name="Text 171"/>
          <p:cNvSpPr/>
          <p:nvPr/>
        </p:nvSpPr>
        <p:spPr>
          <a:xfrm>
            <a:off x="1699260" y="17306925"/>
            <a:ext cx="441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675" dirty="0"/>
          </a:p>
        </p:txBody>
      </p:sp>
      <p:sp>
        <p:nvSpPr>
          <p:cNvPr id="174" name="Text 172"/>
          <p:cNvSpPr/>
          <p:nvPr/>
        </p:nvSpPr>
        <p:spPr>
          <a:xfrm>
            <a:off x="2112645" y="17306925"/>
            <a:ext cx="441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675" dirty="0"/>
          </a:p>
        </p:txBody>
      </p:sp>
      <p:sp>
        <p:nvSpPr>
          <p:cNvPr id="175" name="Text 173"/>
          <p:cNvSpPr/>
          <p:nvPr/>
        </p:nvSpPr>
        <p:spPr>
          <a:xfrm>
            <a:off x="2526030" y="17306925"/>
            <a:ext cx="441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endParaRPr lang="en-US" sz="675" dirty="0"/>
          </a:p>
        </p:txBody>
      </p:sp>
      <p:sp>
        <p:nvSpPr>
          <p:cNvPr id="176" name="Text 174"/>
          <p:cNvSpPr/>
          <p:nvPr/>
        </p:nvSpPr>
        <p:spPr>
          <a:xfrm>
            <a:off x="2939415" y="17306925"/>
            <a:ext cx="441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75" dirty="0"/>
          </a:p>
        </p:txBody>
      </p:sp>
      <p:sp>
        <p:nvSpPr>
          <p:cNvPr id="177" name="Text 175"/>
          <p:cNvSpPr/>
          <p:nvPr/>
        </p:nvSpPr>
        <p:spPr>
          <a:xfrm>
            <a:off x="3352800" y="17306925"/>
            <a:ext cx="4419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75" dirty="0"/>
          </a:p>
        </p:txBody>
      </p:sp>
      <p:sp>
        <p:nvSpPr>
          <p:cNvPr id="178" name="Shape 176"/>
          <p:cNvSpPr/>
          <p:nvPr/>
        </p:nvSpPr>
        <p:spPr>
          <a:xfrm>
            <a:off x="910590" y="17468850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FEADF"/>
          </a:solidFill>
          <a:ln/>
        </p:spPr>
      </p:sp>
      <p:sp>
        <p:nvSpPr>
          <p:cNvPr id="179" name="Text 177"/>
          <p:cNvSpPr/>
          <p:nvPr/>
        </p:nvSpPr>
        <p:spPr>
          <a:xfrm>
            <a:off x="872490" y="17468850"/>
            <a:ext cx="4419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BB2A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29</a:t>
            </a:r>
            <a:endParaRPr lang="en-US" sz="975" dirty="0"/>
          </a:p>
        </p:txBody>
      </p:sp>
      <p:sp>
        <p:nvSpPr>
          <p:cNvPr id="180" name="Shape 178"/>
          <p:cNvSpPr/>
          <p:nvPr/>
        </p:nvSpPr>
        <p:spPr>
          <a:xfrm>
            <a:off x="1323975" y="17468850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FEADF"/>
          </a:solidFill>
          <a:ln/>
        </p:spPr>
      </p:sp>
      <p:sp>
        <p:nvSpPr>
          <p:cNvPr id="181" name="Text 179"/>
          <p:cNvSpPr/>
          <p:nvPr/>
        </p:nvSpPr>
        <p:spPr>
          <a:xfrm>
            <a:off x="1285875" y="17468850"/>
            <a:ext cx="4419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BB2A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30</a:t>
            </a:r>
            <a:endParaRPr lang="en-US" sz="975" dirty="0"/>
          </a:p>
        </p:txBody>
      </p:sp>
      <p:sp>
        <p:nvSpPr>
          <p:cNvPr id="182" name="Shape 180"/>
          <p:cNvSpPr/>
          <p:nvPr/>
        </p:nvSpPr>
        <p:spPr>
          <a:xfrm>
            <a:off x="1737360" y="17468850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AFAF1"/>
          </a:solidFill>
          <a:ln w="7620">
            <a:solidFill>
              <a:srgbClr val="B6E3CB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706880" y="17476470"/>
            <a:ext cx="4267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</a:t>
            </a:r>
            <a:endParaRPr lang="en-US" sz="975" dirty="0"/>
          </a:p>
        </p:txBody>
      </p:sp>
      <p:sp>
        <p:nvSpPr>
          <p:cNvPr id="184" name="Shape 182"/>
          <p:cNvSpPr/>
          <p:nvPr/>
        </p:nvSpPr>
        <p:spPr>
          <a:xfrm>
            <a:off x="2150745" y="17468850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AFAF1"/>
          </a:solidFill>
          <a:ln w="7620">
            <a:solidFill>
              <a:srgbClr val="B6E3CB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2120265" y="17476470"/>
            <a:ext cx="4267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</a:t>
            </a:r>
            <a:endParaRPr lang="en-US" sz="975" dirty="0"/>
          </a:p>
        </p:txBody>
      </p:sp>
      <p:sp>
        <p:nvSpPr>
          <p:cNvPr id="186" name="Shape 184"/>
          <p:cNvSpPr/>
          <p:nvPr/>
        </p:nvSpPr>
        <p:spPr>
          <a:xfrm>
            <a:off x="2564130" y="17468850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AFAF1"/>
          </a:solidFill>
          <a:ln w="7620">
            <a:solidFill>
              <a:srgbClr val="B6E3CB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533650" y="17476470"/>
            <a:ext cx="4267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</a:t>
            </a:r>
            <a:endParaRPr lang="en-US" sz="975" dirty="0"/>
          </a:p>
        </p:txBody>
      </p:sp>
      <p:sp>
        <p:nvSpPr>
          <p:cNvPr id="188" name="Shape 186"/>
          <p:cNvSpPr/>
          <p:nvPr/>
        </p:nvSpPr>
        <p:spPr>
          <a:xfrm>
            <a:off x="2977515" y="17468850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FDE7E7"/>
          </a:solidFill>
          <a:ln/>
        </p:spPr>
      </p:sp>
      <p:sp>
        <p:nvSpPr>
          <p:cNvPr id="189" name="Text 187"/>
          <p:cNvSpPr/>
          <p:nvPr/>
        </p:nvSpPr>
        <p:spPr>
          <a:xfrm>
            <a:off x="2939415" y="17468850"/>
            <a:ext cx="4419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strike="sngStrike" dirty="0">
                <a:solidFill>
                  <a:srgbClr val="CC2255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4</a:t>
            </a:r>
            <a:endParaRPr lang="en-US" sz="975" dirty="0"/>
          </a:p>
        </p:txBody>
      </p:sp>
      <p:sp>
        <p:nvSpPr>
          <p:cNvPr id="190" name="Shape 188"/>
          <p:cNvSpPr/>
          <p:nvPr/>
        </p:nvSpPr>
        <p:spPr>
          <a:xfrm>
            <a:off x="3390900" y="17468850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FDE7E7"/>
          </a:solidFill>
          <a:ln/>
        </p:spPr>
      </p:sp>
      <p:sp>
        <p:nvSpPr>
          <p:cNvPr id="191" name="Text 189"/>
          <p:cNvSpPr/>
          <p:nvPr/>
        </p:nvSpPr>
        <p:spPr>
          <a:xfrm>
            <a:off x="3352800" y="17468850"/>
            <a:ext cx="4419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strike="sngStrike" dirty="0">
                <a:solidFill>
                  <a:srgbClr val="CC2255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5</a:t>
            </a:r>
            <a:endParaRPr lang="en-US" sz="975" dirty="0"/>
          </a:p>
        </p:txBody>
      </p:sp>
      <p:sp>
        <p:nvSpPr>
          <p:cNvPr id="192" name="Shape 190"/>
          <p:cNvSpPr/>
          <p:nvPr/>
        </p:nvSpPr>
        <p:spPr>
          <a:xfrm>
            <a:off x="910590" y="17882235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FEADF"/>
          </a:solidFill>
          <a:ln/>
        </p:spPr>
      </p:sp>
      <p:sp>
        <p:nvSpPr>
          <p:cNvPr id="193" name="Text 191"/>
          <p:cNvSpPr/>
          <p:nvPr/>
        </p:nvSpPr>
        <p:spPr>
          <a:xfrm>
            <a:off x="872490" y="17882235"/>
            <a:ext cx="4419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BB2A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6</a:t>
            </a:r>
            <a:endParaRPr lang="en-US" sz="975" dirty="0"/>
          </a:p>
        </p:txBody>
      </p:sp>
      <p:sp>
        <p:nvSpPr>
          <p:cNvPr id="194" name="Shape 192"/>
          <p:cNvSpPr/>
          <p:nvPr/>
        </p:nvSpPr>
        <p:spPr>
          <a:xfrm>
            <a:off x="1323975" y="17882235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FF5F00"/>
          </a:solidFill>
          <a:ln/>
        </p:spPr>
      </p:sp>
      <p:sp>
        <p:nvSpPr>
          <p:cNvPr id="195" name="Text 193"/>
          <p:cNvSpPr/>
          <p:nvPr/>
        </p:nvSpPr>
        <p:spPr>
          <a:xfrm>
            <a:off x="1285875" y="17882235"/>
            <a:ext cx="4419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7</a:t>
            </a:r>
            <a:endParaRPr lang="en-US" sz="975" dirty="0"/>
          </a:p>
        </p:txBody>
      </p:sp>
      <p:sp>
        <p:nvSpPr>
          <p:cNvPr id="196" name="Shape 194"/>
          <p:cNvSpPr/>
          <p:nvPr/>
        </p:nvSpPr>
        <p:spPr>
          <a:xfrm>
            <a:off x="1737360" y="17882235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AFAF1"/>
          </a:solidFill>
          <a:ln w="7620">
            <a:solidFill>
              <a:srgbClr val="B6E3CB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706880" y="17889855"/>
            <a:ext cx="4267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8</a:t>
            </a:r>
            <a:endParaRPr lang="en-US" sz="975" dirty="0"/>
          </a:p>
        </p:txBody>
      </p:sp>
      <p:sp>
        <p:nvSpPr>
          <p:cNvPr id="198" name="Shape 196"/>
          <p:cNvSpPr/>
          <p:nvPr/>
        </p:nvSpPr>
        <p:spPr>
          <a:xfrm>
            <a:off x="2150745" y="17882235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AFAF1"/>
          </a:solidFill>
          <a:ln w="7620">
            <a:solidFill>
              <a:srgbClr val="B6E3CB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2120265" y="17889855"/>
            <a:ext cx="4267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9</a:t>
            </a:r>
            <a:endParaRPr lang="en-US" sz="975" dirty="0"/>
          </a:p>
        </p:txBody>
      </p:sp>
      <p:sp>
        <p:nvSpPr>
          <p:cNvPr id="200" name="Shape 198"/>
          <p:cNvSpPr/>
          <p:nvPr/>
        </p:nvSpPr>
        <p:spPr>
          <a:xfrm>
            <a:off x="2564130" y="17882235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AFAF1"/>
          </a:solidFill>
          <a:ln w="7620">
            <a:solidFill>
              <a:srgbClr val="B6E3CB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2533650" y="17889855"/>
            <a:ext cx="42672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10</a:t>
            </a:r>
            <a:endParaRPr lang="en-US" sz="975" dirty="0"/>
          </a:p>
        </p:txBody>
      </p:sp>
      <p:sp>
        <p:nvSpPr>
          <p:cNvPr id="202" name="Shape 200"/>
          <p:cNvSpPr/>
          <p:nvPr/>
        </p:nvSpPr>
        <p:spPr>
          <a:xfrm>
            <a:off x="2977515" y="17882235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FEADF"/>
          </a:solidFill>
          <a:ln/>
        </p:spPr>
      </p:sp>
      <p:sp>
        <p:nvSpPr>
          <p:cNvPr id="203" name="Text 201"/>
          <p:cNvSpPr/>
          <p:nvPr/>
        </p:nvSpPr>
        <p:spPr>
          <a:xfrm>
            <a:off x="2939415" y="17882235"/>
            <a:ext cx="4419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BB2A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11</a:t>
            </a:r>
            <a:endParaRPr lang="en-US" sz="975" dirty="0"/>
          </a:p>
        </p:txBody>
      </p:sp>
      <p:sp>
        <p:nvSpPr>
          <p:cNvPr id="204" name="Shape 202"/>
          <p:cNvSpPr/>
          <p:nvPr/>
        </p:nvSpPr>
        <p:spPr>
          <a:xfrm>
            <a:off x="3390900" y="17882235"/>
            <a:ext cx="365760" cy="365760"/>
          </a:xfrm>
          <a:prstGeom prst="roundRect">
            <a:avLst>
              <a:gd name="adj" fmla="val 15625"/>
            </a:avLst>
          </a:prstGeom>
          <a:solidFill>
            <a:srgbClr val="EFEADF"/>
          </a:solidFill>
          <a:ln/>
        </p:spPr>
      </p:sp>
      <p:sp>
        <p:nvSpPr>
          <p:cNvPr id="205" name="Text 203"/>
          <p:cNvSpPr/>
          <p:nvPr/>
        </p:nvSpPr>
        <p:spPr>
          <a:xfrm>
            <a:off x="3352800" y="17882235"/>
            <a:ext cx="441960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BB2A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12</a:t>
            </a:r>
            <a:endParaRPr lang="en-US" sz="975" dirty="0"/>
          </a:p>
        </p:txBody>
      </p:sp>
      <p:sp>
        <p:nvSpPr>
          <p:cNvPr id="206" name="Text 204"/>
          <p:cNvSpPr/>
          <p:nvPr/>
        </p:nvSpPr>
        <p:spPr>
          <a:xfrm>
            <a:off x="910590" y="18352770"/>
            <a:ext cx="37445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● open</a:t>
            </a:r>
            <a:endParaRPr lang="en-US" sz="975" dirty="0"/>
          </a:p>
        </p:txBody>
      </p:sp>
      <p:sp>
        <p:nvSpPr>
          <p:cNvPr id="207" name="Text 205"/>
          <p:cNvSpPr/>
          <p:nvPr/>
        </p:nvSpPr>
        <p:spPr>
          <a:xfrm>
            <a:off x="1332667" y="18352770"/>
            <a:ext cx="35599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● held</a:t>
            </a:r>
            <a:endParaRPr lang="en-US" sz="975" dirty="0"/>
          </a:p>
        </p:txBody>
      </p:sp>
      <p:sp>
        <p:nvSpPr>
          <p:cNvPr id="208" name="Text 206"/>
          <p:cNvSpPr/>
          <p:nvPr/>
        </p:nvSpPr>
        <p:spPr>
          <a:xfrm>
            <a:off x="1736288" y="18352770"/>
            <a:ext cx="46565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C2255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● booked</a:t>
            </a:r>
            <a:endParaRPr lang="en-US" sz="975" dirty="0"/>
          </a:p>
        </p:txBody>
      </p:sp>
      <p:sp>
        <p:nvSpPr>
          <p:cNvPr id="209" name="Shape 207"/>
          <p:cNvSpPr/>
          <p:nvPr/>
        </p:nvSpPr>
        <p:spPr>
          <a:xfrm>
            <a:off x="910590" y="18632806"/>
            <a:ext cx="2846070" cy="38862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210" name="Text 208"/>
          <p:cNvSpPr/>
          <p:nvPr/>
        </p:nvSpPr>
        <p:spPr>
          <a:xfrm>
            <a:off x="963149" y="18728056"/>
            <a:ext cx="274095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Request Oct 7 →</a:t>
            </a:r>
            <a:endParaRPr lang="en-US" sz="1275" dirty="0"/>
          </a:p>
        </p:txBody>
      </p:sp>
      <p:sp>
        <p:nvSpPr>
          <p:cNvPr id="211" name="Text 209"/>
          <p:cNvSpPr/>
          <p:nvPr/>
        </p:nvSpPr>
        <p:spPr>
          <a:xfrm>
            <a:off x="4305300" y="16525875"/>
            <a:ext cx="201416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· Manager — roster calendar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4286250" y="16764000"/>
            <a:ext cx="7524750" cy="2152650"/>
          </a:xfrm>
          <a:prstGeom prst="roundRect">
            <a:avLst>
              <a:gd name="adj" fmla="val 6195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213" name="Text 211"/>
          <p:cNvSpPr/>
          <p:nvPr/>
        </p:nvSpPr>
        <p:spPr>
          <a:xfrm>
            <a:off x="4434840" y="16912590"/>
            <a:ext cx="138263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Roster · 4 artists</a:t>
            </a:r>
            <a:endParaRPr lang="en-US" sz="1650" dirty="0"/>
          </a:p>
        </p:txBody>
      </p:sp>
      <p:sp>
        <p:nvSpPr>
          <p:cNvPr id="214" name="Text 212"/>
          <p:cNvSpPr/>
          <p:nvPr/>
        </p:nvSpPr>
        <p:spPr>
          <a:xfrm>
            <a:off x="10494407" y="16977360"/>
            <a:ext cx="1244203" cy="167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◂ OCT — DEC 2026 ▸</a:t>
            </a:r>
            <a:endParaRPr lang="en-US" sz="750" dirty="0"/>
          </a:p>
        </p:txBody>
      </p:sp>
      <p:sp>
        <p:nvSpPr>
          <p:cNvPr id="215" name="Text 213"/>
          <p:cNvSpPr/>
          <p:nvPr/>
        </p:nvSpPr>
        <p:spPr>
          <a:xfrm>
            <a:off x="5292090" y="17276445"/>
            <a:ext cx="8343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W40</a:t>
            </a:r>
            <a:endParaRPr lang="en-US" sz="675" dirty="0"/>
          </a:p>
        </p:txBody>
      </p:sp>
      <p:sp>
        <p:nvSpPr>
          <p:cNvPr id="216" name="Text 214"/>
          <p:cNvSpPr/>
          <p:nvPr/>
        </p:nvSpPr>
        <p:spPr>
          <a:xfrm>
            <a:off x="6088380" y="17276445"/>
            <a:ext cx="8343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W41</a:t>
            </a:r>
            <a:endParaRPr lang="en-US" sz="675" dirty="0"/>
          </a:p>
        </p:txBody>
      </p:sp>
      <p:sp>
        <p:nvSpPr>
          <p:cNvPr id="217" name="Text 215"/>
          <p:cNvSpPr/>
          <p:nvPr/>
        </p:nvSpPr>
        <p:spPr>
          <a:xfrm>
            <a:off x="6884670" y="17276445"/>
            <a:ext cx="8343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W42</a:t>
            </a:r>
            <a:endParaRPr lang="en-US" sz="675" dirty="0"/>
          </a:p>
        </p:txBody>
      </p:sp>
      <p:sp>
        <p:nvSpPr>
          <p:cNvPr id="218" name="Text 216"/>
          <p:cNvSpPr/>
          <p:nvPr/>
        </p:nvSpPr>
        <p:spPr>
          <a:xfrm>
            <a:off x="7680960" y="17276445"/>
            <a:ext cx="8343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W43</a:t>
            </a:r>
            <a:endParaRPr lang="en-US" sz="675" dirty="0"/>
          </a:p>
        </p:txBody>
      </p:sp>
      <p:sp>
        <p:nvSpPr>
          <p:cNvPr id="219" name="Text 217"/>
          <p:cNvSpPr/>
          <p:nvPr/>
        </p:nvSpPr>
        <p:spPr>
          <a:xfrm>
            <a:off x="8477250" y="17276445"/>
            <a:ext cx="8343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W44</a:t>
            </a:r>
            <a:endParaRPr lang="en-US" sz="675" dirty="0"/>
          </a:p>
        </p:txBody>
      </p:sp>
      <p:sp>
        <p:nvSpPr>
          <p:cNvPr id="220" name="Text 218"/>
          <p:cNvSpPr/>
          <p:nvPr/>
        </p:nvSpPr>
        <p:spPr>
          <a:xfrm>
            <a:off x="9273540" y="17276445"/>
            <a:ext cx="8343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W45</a:t>
            </a:r>
            <a:endParaRPr lang="en-US" sz="675" dirty="0"/>
          </a:p>
        </p:txBody>
      </p:sp>
      <p:sp>
        <p:nvSpPr>
          <p:cNvPr id="221" name="Text 219"/>
          <p:cNvSpPr/>
          <p:nvPr/>
        </p:nvSpPr>
        <p:spPr>
          <a:xfrm>
            <a:off x="10069831" y="17276445"/>
            <a:ext cx="8343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W46</a:t>
            </a:r>
            <a:endParaRPr lang="en-US" sz="675" dirty="0"/>
          </a:p>
        </p:txBody>
      </p:sp>
      <p:sp>
        <p:nvSpPr>
          <p:cNvPr id="222" name="Text 220"/>
          <p:cNvSpPr/>
          <p:nvPr/>
        </p:nvSpPr>
        <p:spPr>
          <a:xfrm>
            <a:off x="10866120" y="17276445"/>
            <a:ext cx="8343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W47</a:t>
            </a:r>
            <a:endParaRPr lang="en-US" sz="675" dirty="0"/>
          </a:p>
        </p:txBody>
      </p:sp>
      <p:sp>
        <p:nvSpPr>
          <p:cNvPr id="223" name="Text 221"/>
          <p:cNvSpPr/>
          <p:nvPr/>
        </p:nvSpPr>
        <p:spPr>
          <a:xfrm>
            <a:off x="4434840" y="17461231"/>
            <a:ext cx="93345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</a:t>
            </a:r>
            <a:endParaRPr lang="en-US" sz="1125" dirty="0"/>
          </a:p>
        </p:txBody>
      </p:sp>
      <p:sp>
        <p:nvSpPr>
          <p:cNvPr id="224" name="Shape 222"/>
          <p:cNvSpPr/>
          <p:nvPr/>
        </p:nvSpPr>
        <p:spPr>
          <a:xfrm>
            <a:off x="5330190" y="1743837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CFEEDE"/>
          </a:solidFill>
          <a:ln/>
        </p:spPr>
      </p:sp>
      <p:sp>
        <p:nvSpPr>
          <p:cNvPr id="225" name="Text 223"/>
          <p:cNvSpPr/>
          <p:nvPr/>
        </p:nvSpPr>
        <p:spPr>
          <a:xfrm>
            <a:off x="5292090" y="17438370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TOUR</a:t>
            </a:r>
            <a:endParaRPr lang="en-US" sz="750" dirty="0"/>
          </a:p>
        </p:txBody>
      </p:sp>
      <p:sp>
        <p:nvSpPr>
          <p:cNvPr id="226" name="Shape 224"/>
          <p:cNvSpPr/>
          <p:nvPr/>
        </p:nvSpPr>
        <p:spPr>
          <a:xfrm>
            <a:off x="6126480" y="1743837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CFEEDE"/>
          </a:solidFill>
          <a:ln/>
        </p:spPr>
      </p:sp>
      <p:sp>
        <p:nvSpPr>
          <p:cNvPr id="227" name="Shape 225"/>
          <p:cNvSpPr/>
          <p:nvPr/>
        </p:nvSpPr>
        <p:spPr>
          <a:xfrm>
            <a:off x="6922770" y="1743837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FFD9C2"/>
          </a:solidFill>
          <a:ln/>
        </p:spPr>
      </p:sp>
      <p:sp>
        <p:nvSpPr>
          <p:cNvPr id="228" name="Text 226"/>
          <p:cNvSpPr/>
          <p:nvPr/>
        </p:nvSpPr>
        <p:spPr>
          <a:xfrm>
            <a:off x="6884670" y="17438370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B54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675" dirty="0"/>
          </a:p>
        </p:txBody>
      </p:sp>
      <p:sp>
        <p:nvSpPr>
          <p:cNvPr id="229" name="Shape 227"/>
          <p:cNvSpPr/>
          <p:nvPr/>
        </p:nvSpPr>
        <p:spPr>
          <a:xfrm>
            <a:off x="7719060" y="1743837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30" name="Shape 228"/>
          <p:cNvSpPr/>
          <p:nvPr/>
        </p:nvSpPr>
        <p:spPr>
          <a:xfrm>
            <a:off x="8515350" y="1743837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FF5F00"/>
          </a:solidFill>
          <a:ln/>
        </p:spPr>
      </p:sp>
      <p:sp>
        <p:nvSpPr>
          <p:cNvPr id="231" name="Text 229"/>
          <p:cNvSpPr/>
          <p:nvPr/>
        </p:nvSpPr>
        <p:spPr>
          <a:xfrm>
            <a:off x="8477250" y="17438370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60B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SÓNAR</a:t>
            </a:r>
            <a:endParaRPr lang="en-US" sz="675" dirty="0"/>
          </a:p>
        </p:txBody>
      </p:sp>
      <p:sp>
        <p:nvSpPr>
          <p:cNvPr id="232" name="Shape 230"/>
          <p:cNvSpPr/>
          <p:nvPr/>
        </p:nvSpPr>
        <p:spPr>
          <a:xfrm>
            <a:off x="9311640" y="1743837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33" name="Shape 231"/>
          <p:cNvSpPr/>
          <p:nvPr/>
        </p:nvSpPr>
        <p:spPr>
          <a:xfrm>
            <a:off x="10107931" y="1743837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0904220" y="1743837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35" name="Text 233"/>
          <p:cNvSpPr/>
          <p:nvPr/>
        </p:nvSpPr>
        <p:spPr>
          <a:xfrm>
            <a:off x="4434840" y="17737456"/>
            <a:ext cx="93345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LUNA</a:t>
            </a:r>
            <a:endParaRPr lang="en-US" sz="1125" dirty="0"/>
          </a:p>
        </p:txBody>
      </p:sp>
      <p:sp>
        <p:nvSpPr>
          <p:cNvPr id="236" name="Shape 234"/>
          <p:cNvSpPr/>
          <p:nvPr/>
        </p:nvSpPr>
        <p:spPr>
          <a:xfrm>
            <a:off x="5330190" y="1771459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37" name="Shape 235"/>
          <p:cNvSpPr/>
          <p:nvPr/>
        </p:nvSpPr>
        <p:spPr>
          <a:xfrm>
            <a:off x="6126480" y="1771459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FF5F00"/>
          </a:solidFill>
          <a:ln/>
        </p:spPr>
      </p:sp>
      <p:sp>
        <p:nvSpPr>
          <p:cNvPr id="238" name="Text 236"/>
          <p:cNvSpPr/>
          <p:nvPr/>
        </p:nvSpPr>
        <p:spPr>
          <a:xfrm>
            <a:off x="6088380" y="17714595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60B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BERGHAIN</a:t>
            </a:r>
            <a:endParaRPr lang="en-US" sz="675" dirty="0"/>
          </a:p>
        </p:txBody>
      </p:sp>
      <p:sp>
        <p:nvSpPr>
          <p:cNvPr id="239" name="Shape 237"/>
          <p:cNvSpPr/>
          <p:nvPr/>
        </p:nvSpPr>
        <p:spPr>
          <a:xfrm>
            <a:off x="6922770" y="1771459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6DFFB"/>
          </a:solidFill>
          <a:ln/>
        </p:spPr>
      </p:sp>
      <p:sp>
        <p:nvSpPr>
          <p:cNvPr id="240" name="Text 238"/>
          <p:cNvSpPr/>
          <p:nvPr/>
        </p:nvSpPr>
        <p:spPr>
          <a:xfrm>
            <a:off x="6884670" y="17714595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6A4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</a:t>
            </a:r>
            <a:endParaRPr lang="en-US" sz="675" dirty="0"/>
          </a:p>
        </p:txBody>
      </p:sp>
      <p:sp>
        <p:nvSpPr>
          <p:cNvPr id="241" name="Shape 239"/>
          <p:cNvSpPr/>
          <p:nvPr/>
        </p:nvSpPr>
        <p:spPr>
          <a:xfrm>
            <a:off x="7719060" y="1771459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6DFFB"/>
          </a:solidFill>
          <a:ln/>
        </p:spPr>
      </p:sp>
      <p:sp>
        <p:nvSpPr>
          <p:cNvPr id="242" name="Shape 240"/>
          <p:cNvSpPr/>
          <p:nvPr/>
        </p:nvSpPr>
        <p:spPr>
          <a:xfrm>
            <a:off x="8515350" y="1771459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43" name="Shape 241"/>
          <p:cNvSpPr/>
          <p:nvPr/>
        </p:nvSpPr>
        <p:spPr>
          <a:xfrm>
            <a:off x="9311640" y="1771459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FFD9C2"/>
          </a:solidFill>
          <a:ln/>
        </p:spPr>
      </p:sp>
      <p:sp>
        <p:nvSpPr>
          <p:cNvPr id="244" name="Text 242"/>
          <p:cNvSpPr/>
          <p:nvPr/>
        </p:nvSpPr>
        <p:spPr>
          <a:xfrm>
            <a:off x="9273540" y="17714595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B54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675" dirty="0"/>
          </a:p>
        </p:txBody>
      </p:sp>
      <p:sp>
        <p:nvSpPr>
          <p:cNvPr id="245" name="Shape 243"/>
          <p:cNvSpPr/>
          <p:nvPr/>
        </p:nvSpPr>
        <p:spPr>
          <a:xfrm>
            <a:off x="10107931" y="1771459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46" name="Shape 244"/>
          <p:cNvSpPr/>
          <p:nvPr/>
        </p:nvSpPr>
        <p:spPr>
          <a:xfrm>
            <a:off x="10904220" y="1771459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47" name="Text 245"/>
          <p:cNvSpPr/>
          <p:nvPr/>
        </p:nvSpPr>
        <p:spPr>
          <a:xfrm>
            <a:off x="4434840" y="18013681"/>
            <a:ext cx="93345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SOBA</a:t>
            </a:r>
            <a:endParaRPr lang="en-US" sz="1125" dirty="0"/>
          </a:p>
        </p:txBody>
      </p:sp>
      <p:sp>
        <p:nvSpPr>
          <p:cNvPr id="248" name="Shape 246"/>
          <p:cNvSpPr/>
          <p:nvPr/>
        </p:nvSpPr>
        <p:spPr>
          <a:xfrm>
            <a:off x="5330190" y="1799082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49" name="Shape 247"/>
          <p:cNvSpPr/>
          <p:nvPr/>
        </p:nvSpPr>
        <p:spPr>
          <a:xfrm>
            <a:off x="6126480" y="1799082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50" name="Shape 248"/>
          <p:cNvSpPr/>
          <p:nvPr/>
        </p:nvSpPr>
        <p:spPr>
          <a:xfrm>
            <a:off x="6922770" y="1799082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FDE0E0"/>
          </a:solidFill>
          <a:ln/>
        </p:spPr>
      </p:sp>
      <p:sp>
        <p:nvSpPr>
          <p:cNvPr id="251" name="Text 249"/>
          <p:cNvSpPr/>
          <p:nvPr/>
        </p:nvSpPr>
        <p:spPr>
          <a:xfrm>
            <a:off x="6884670" y="17990820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CC22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675" dirty="0"/>
          </a:p>
        </p:txBody>
      </p:sp>
      <p:sp>
        <p:nvSpPr>
          <p:cNvPr id="252" name="Shape 250"/>
          <p:cNvSpPr/>
          <p:nvPr/>
        </p:nvSpPr>
        <p:spPr>
          <a:xfrm>
            <a:off x="7719060" y="1799082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FF5F00"/>
          </a:solidFill>
          <a:ln/>
        </p:spPr>
      </p:sp>
      <p:sp>
        <p:nvSpPr>
          <p:cNvPr id="253" name="Text 251"/>
          <p:cNvSpPr/>
          <p:nvPr/>
        </p:nvSpPr>
        <p:spPr>
          <a:xfrm>
            <a:off x="7680960" y="17990820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60B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</a:t>
            </a:r>
            <a:endParaRPr lang="en-US" sz="675" dirty="0"/>
          </a:p>
        </p:txBody>
      </p:sp>
      <p:sp>
        <p:nvSpPr>
          <p:cNvPr id="254" name="Shape 252"/>
          <p:cNvSpPr/>
          <p:nvPr/>
        </p:nvSpPr>
        <p:spPr>
          <a:xfrm>
            <a:off x="8515350" y="1799082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CFEEDE"/>
          </a:solidFill>
          <a:ln/>
        </p:spPr>
      </p:sp>
      <p:sp>
        <p:nvSpPr>
          <p:cNvPr id="255" name="Text 253"/>
          <p:cNvSpPr/>
          <p:nvPr/>
        </p:nvSpPr>
        <p:spPr>
          <a:xfrm>
            <a:off x="8477250" y="17990820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RUN</a:t>
            </a:r>
            <a:endParaRPr lang="en-US" sz="675" dirty="0"/>
          </a:p>
        </p:txBody>
      </p:sp>
      <p:sp>
        <p:nvSpPr>
          <p:cNvPr id="256" name="Shape 254"/>
          <p:cNvSpPr/>
          <p:nvPr/>
        </p:nvSpPr>
        <p:spPr>
          <a:xfrm>
            <a:off x="9311640" y="1799082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CFEEDE"/>
          </a:solidFill>
          <a:ln/>
        </p:spPr>
      </p:sp>
      <p:sp>
        <p:nvSpPr>
          <p:cNvPr id="257" name="Shape 255"/>
          <p:cNvSpPr/>
          <p:nvPr/>
        </p:nvSpPr>
        <p:spPr>
          <a:xfrm>
            <a:off x="10107931" y="1799082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CFEEDE"/>
          </a:solidFill>
          <a:ln/>
        </p:spPr>
      </p:sp>
      <p:sp>
        <p:nvSpPr>
          <p:cNvPr id="258" name="Shape 256"/>
          <p:cNvSpPr/>
          <p:nvPr/>
        </p:nvSpPr>
        <p:spPr>
          <a:xfrm>
            <a:off x="10904220" y="17990820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59" name="Text 257"/>
          <p:cNvSpPr/>
          <p:nvPr/>
        </p:nvSpPr>
        <p:spPr>
          <a:xfrm>
            <a:off x="4434840" y="18289906"/>
            <a:ext cx="93345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ODE</a:t>
            </a:r>
            <a:endParaRPr lang="en-US" sz="1125" dirty="0"/>
          </a:p>
        </p:txBody>
      </p:sp>
      <p:sp>
        <p:nvSpPr>
          <p:cNvPr id="260" name="Shape 258"/>
          <p:cNvSpPr/>
          <p:nvPr/>
        </p:nvSpPr>
        <p:spPr>
          <a:xfrm>
            <a:off x="5330190" y="1826704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FFD9C2"/>
          </a:solidFill>
          <a:ln/>
        </p:spPr>
      </p:sp>
      <p:sp>
        <p:nvSpPr>
          <p:cNvPr id="261" name="Text 259"/>
          <p:cNvSpPr/>
          <p:nvPr/>
        </p:nvSpPr>
        <p:spPr>
          <a:xfrm>
            <a:off x="5292090" y="18267045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B546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675" dirty="0"/>
          </a:p>
        </p:txBody>
      </p:sp>
      <p:sp>
        <p:nvSpPr>
          <p:cNvPr id="262" name="Shape 260"/>
          <p:cNvSpPr/>
          <p:nvPr/>
        </p:nvSpPr>
        <p:spPr>
          <a:xfrm>
            <a:off x="6126480" y="1826704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63" name="Shape 261"/>
          <p:cNvSpPr/>
          <p:nvPr/>
        </p:nvSpPr>
        <p:spPr>
          <a:xfrm>
            <a:off x="6922770" y="1826704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64" name="Shape 262"/>
          <p:cNvSpPr/>
          <p:nvPr/>
        </p:nvSpPr>
        <p:spPr>
          <a:xfrm>
            <a:off x="7719060" y="1826704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65" name="Shape 263"/>
          <p:cNvSpPr/>
          <p:nvPr/>
        </p:nvSpPr>
        <p:spPr>
          <a:xfrm>
            <a:off x="8515350" y="1826704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FF5F00"/>
          </a:solidFill>
          <a:ln/>
        </p:spPr>
      </p:sp>
      <p:sp>
        <p:nvSpPr>
          <p:cNvPr id="266" name="Text 264"/>
          <p:cNvSpPr/>
          <p:nvPr/>
        </p:nvSpPr>
        <p:spPr>
          <a:xfrm>
            <a:off x="8477250" y="18267045"/>
            <a:ext cx="83439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60B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</a:t>
            </a:r>
            <a:endParaRPr lang="en-US" sz="675" dirty="0"/>
          </a:p>
        </p:txBody>
      </p:sp>
      <p:sp>
        <p:nvSpPr>
          <p:cNvPr id="267" name="Shape 265"/>
          <p:cNvSpPr/>
          <p:nvPr/>
        </p:nvSpPr>
        <p:spPr>
          <a:xfrm>
            <a:off x="9311640" y="1826704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68" name="Shape 266"/>
          <p:cNvSpPr/>
          <p:nvPr/>
        </p:nvSpPr>
        <p:spPr>
          <a:xfrm>
            <a:off x="10107931" y="1826704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69" name="Shape 267"/>
          <p:cNvSpPr/>
          <p:nvPr/>
        </p:nvSpPr>
        <p:spPr>
          <a:xfrm>
            <a:off x="10904220" y="18267045"/>
            <a:ext cx="758190" cy="228600"/>
          </a:xfrm>
          <a:prstGeom prst="roundRect">
            <a:avLst>
              <a:gd name="adj" fmla="val 20833"/>
            </a:avLst>
          </a:prstGeom>
          <a:solidFill>
            <a:srgbClr val="EFEADF"/>
          </a:solidFill>
          <a:ln/>
        </p:spPr>
      </p:sp>
      <p:sp>
        <p:nvSpPr>
          <p:cNvPr id="270" name="Text 268"/>
          <p:cNvSpPr/>
          <p:nvPr/>
        </p:nvSpPr>
        <p:spPr>
          <a:xfrm>
            <a:off x="4434840" y="18600420"/>
            <a:ext cx="64329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▮ confirmed</a:t>
            </a:r>
            <a:endParaRPr lang="en-US" sz="975" dirty="0"/>
          </a:p>
        </p:txBody>
      </p:sp>
      <p:sp>
        <p:nvSpPr>
          <p:cNvPr id="271" name="Text 269"/>
          <p:cNvSpPr/>
          <p:nvPr/>
        </p:nvSpPr>
        <p:spPr>
          <a:xfrm>
            <a:off x="5135285" y="18600420"/>
            <a:ext cx="829032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5460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▮ hold / pending</a:t>
            </a:r>
            <a:endParaRPr lang="en-US" sz="975" dirty="0"/>
          </a:p>
        </p:txBody>
      </p:sp>
      <p:sp>
        <p:nvSpPr>
          <p:cNvPr id="272" name="Text 270"/>
          <p:cNvSpPr/>
          <p:nvPr/>
        </p:nvSpPr>
        <p:spPr>
          <a:xfrm>
            <a:off x="6021467" y="18600420"/>
            <a:ext cx="58840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▮ tour run</a:t>
            </a:r>
            <a:endParaRPr lang="en-US" sz="975" dirty="0"/>
          </a:p>
        </p:txBody>
      </p:sp>
      <p:sp>
        <p:nvSpPr>
          <p:cNvPr id="273" name="Text 271"/>
          <p:cNvSpPr/>
          <p:nvPr/>
        </p:nvSpPr>
        <p:spPr>
          <a:xfrm>
            <a:off x="6667024" y="18600420"/>
            <a:ext cx="48327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A4FC4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▮ studio</a:t>
            </a:r>
            <a:endParaRPr lang="en-US" sz="975" dirty="0"/>
          </a:p>
        </p:txBody>
      </p:sp>
      <p:sp>
        <p:nvSpPr>
          <p:cNvPr id="274" name="Text 272"/>
          <p:cNvSpPr/>
          <p:nvPr/>
        </p:nvSpPr>
        <p:spPr>
          <a:xfrm>
            <a:off x="7207448" y="18600420"/>
            <a:ext cx="591026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C2255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▮ blackout</a:t>
            </a:r>
            <a:endParaRPr lang="en-US" sz="975" dirty="0"/>
          </a:p>
        </p:txBody>
      </p:sp>
      <p:sp>
        <p:nvSpPr>
          <p:cNvPr id="275" name="Text 273"/>
          <p:cNvSpPr/>
          <p:nvPr/>
        </p:nvSpPr>
        <p:spPr>
          <a:xfrm>
            <a:off x="12211050" y="16525875"/>
            <a:ext cx="147379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· Request into a slot</a:t>
            </a:r>
            <a:endParaRPr lang="en-US" sz="900" dirty="0"/>
          </a:p>
        </p:txBody>
      </p:sp>
      <p:sp>
        <p:nvSpPr>
          <p:cNvPr id="276" name="Shape 274"/>
          <p:cNvSpPr/>
          <p:nvPr/>
        </p:nvSpPr>
        <p:spPr>
          <a:xfrm>
            <a:off x="12192000" y="16764000"/>
            <a:ext cx="3143250" cy="2897505"/>
          </a:xfrm>
          <a:prstGeom prst="roundRect">
            <a:avLst>
              <a:gd name="adj" fmla="val 4602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277" name="Shape 275"/>
          <p:cNvSpPr/>
          <p:nvPr/>
        </p:nvSpPr>
        <p:spPr>
          <a:xfrm>
            <a:off x="12340590" y="16912590"/>
            <a:ext cx="2846070" cy="769620"/>
          </a:xfrm>
          <a:prstGeom prst="roundRect">
            <a:avLst>
              <a:gd name="adj" fmla="val 11139"/>
            </a:avLst>
          </a:prstGeom>
          <a:solidFill>
            <a:srgbClr val="EAFAF1"/>
          </a:solidFill>
          <a:ln w="7620">
            <a:solidFill>
              <a:srgbClr val="B6E3CB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12443460" y="17015460"/>
            <a:ext cx="2904363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WINDOW</a:t>
            </a:r>
            <a:endParaRPr lang="en-US" sz="750" dirty="0"/>
          </a:p>
        </p:txBody>
      </p:sp>
      <p:sp>
        <p:nvSpPr>
          <p:cNvPr id="279" name="Text 277"/>
          <p:cNvSpPr/>
          <p:nvPr/>
        </p:nvSpPr>
        <p:spPr>
          <a:xfrm>
            <a:off x="12443460" y="17137381"/>
            <a:ext cx="2904363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Tue 7 Oct · KAIRO</a:t>
            </a:r>
            <a:endParaRPr lang="en-US" sz="1650" dirty="0"/>
          </a:p>
        </p:txBody>
      </p:sp>
      <p:sp>
        <p:nvSpPr>
          <p:cNvPr id="280" name="Text 278"/>
          <p:cNvSpPr/>
          <p:nvPr/>
        </p:nvSpPr>
        <p:spPr>
          <a:xfrm>
            <a:off x="12443460" y="17396460"/>
            <a:ext cx="2904363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5C7A6C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Berlin radius · evening</a:t>
            </a:r>
            <a:endParaRPr lang="en-US" sz="1125" dirty="0"/>
          </a:p>
        </p:txBody>
      </p:sp>
      <p:sp>
        <p:nvSpPr>
          <p:cNvPr id="281" name="Text 279"/>
          <p:cNvSpPr/>
          <p:nvPr/>
        </p:nvSpPr>
        <p:spPr>
          <a:xfrm>
            <a:off x="12340590" y="17786985"/>
            <a:ext cx="313067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EVENT</a:t>
            </a:r>
            <a:endParaRPr lang="en-US" sz="675" dirty="0"/>
          </a:p>
        </p:txBody>
      </p:sp>
      <p:sp>
        <p:nvSpPr>
          <p:cNvPr id="282" name="Shape 280"/>
          <p:cNvSpPr/>
          <p:nvPr/>
        </p:nvSpPr>
        <p:spPr>
          <a:xfrm>
            <a:off x="12340590" y="17948910"/>
            <a:ext cx="2846070" cy="369570"/>
          </a:xfrm>
          <a:prstGeom prst="roundRect">
            <a:avLst>
              <a:gd name="adj" fmla="val 20619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283" name="Text 281"/>
          <p:cNvSpPr/>
          <p:nvPr/>
        </p:nvSpPr>
        <p:spPr>
          <a:xfrm>
            <a:off x="12433935" y="18042255"/>
            <a:ext cx="274476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Rooftop closing · Kreuzberg</a:t>
            </a:r>
            <a:endParaRPr lang="en-US" sz="1125" dirty="0"/>
          </a:p>
        </p:txBody>
      </p:sp>
      <p:sp>
        <p:nvSpPr>
          <p:cNvPr id="284" name="Shape 282"/>
          <p:cNvSpPr/>
          <p:nvPr/>
        </p:nvSpPr>
        <p:spPr>
          <a:xfrm>
            <a:off x="12340590" y="18394681"/>
            <a:ext cx="1384935" cy="369570"/>
          </a:xfrm>
          <a:prstGeom prst="roundRect">
            <a:avLst>
              <a:gd name="adj" fmla="val 20619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285" name="Text 283"/>
          <p:cNvSpPr/>
          <p:nvPr/>
        </p:nvSpPr>
        <p:spPr>
          <a:xfrm>
            <a:off x="12433935" y="18488026"/>
            <a:ext cx="127444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21:00–23:00</a:t>
            </a:r>
            <a:endParaRPr lang="en-US" sz="1125" dirty="0"/>
          </a:p>
        </p:txBody>
      </p:sp>
      <p:sp>
        <p:nvSpPr>
          <p:cNvPr id="286" name="Shape 284"/>
          <p:cNvSpPr/>
          <p:nvPr/>
        </p:nvSpPr>
        <p:spPr>
          <a:xfrm>
            <a:off x="13801725" y="18394681"/>
            <a:ext cx="1384935" cy="369570"/>
          </a:xfrm>
          <a:prstGeom prst="roundRect">
            <a:avLst>
              <a:gd name="adj" fmla="val 20619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287" name="Text 285"/>
          <p:cNvSpPr/>
          <p:nvPr/>
        </p:nvSpPr>
        <p:spPr>
          <a:xfrm>
            <a:off x="13895070" y="18488026"/>
            <a:ext cx="127444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€7,500</a:t>
            </a:r>
            <a:endParaRPr lang="en-US" sz="1125" dirty="0"/>
          </a:p>
        </p:txBody>
      </p:sp>
      <p:sp>
        <p:nvSpPr>
          <p:cNvPr id="288" name="Shape 286"/>
          <p:cNvSpPr/>
          <p:nvPr/>
        </p:nvSpPr>
        <p:spPr>
          <a:xfrm>
            <a:off x="12340590" y="18878550"/>
            <a:ext cx="2846070" cy="40767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289" name="Text 287"/>
          <p:cNvSpPr/>
          <p:nvPr/>
        </p:nvSpPr>
        <p:spPr>
          <a:xfrm>
            <a:off x="12402674" y="18983325"/>
            <a:ext cx="272190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Hold this window →</a:t>
            </a:r>
            <a:endParaRPr lang="en-US" sz="1275" dirty="0"/>
          </a:p>
        </p:txBody>
      </p:sp>
      <p:sp>
        <p:nvSpPr>
          <p:cNvPr id="290" name="Text 288"/>
          <p:cNvSpPr/>
          <p:nvPr/>
        </p:nvSpPr>
        <p:spPr>
          <a:xfrm>
            <a:off x="12198286" y="19352895"/>
            <a:ext cx="313067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soft-holds 24h while the team reviews</a:t>
            </a:r>
            <a:endParaRPr lang="en-US" sz="975" dirty="0"/>
          </a:p>
        </p:txBody>
      </p:sp>
      <p:sp>
        <p:nvSpPr>
          <p:cNvPr id="291" name="Text 289"/>
          <p:cNvSpPr/>
          <p:nvPr/>
        </p:nvSpPr>
        <p:spPr>
          <a:xfrm>
            <a:off x="762000" y="23050500"/>
            <a:ext cx="1671947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 · Roster HQ</a:t>
            </a:r>
            <a:endParaRPr lang="en-US" sz="2250" dirty="0"/>
          </a:p>
        </p:txBody>
      </p:sp>
      <p:sp>
        <p:nvSpPr>
          <p:cNvPr id="292" name="Text 290"/>
          <p:cNvSpPr/>
          <p:nvPr/>
        </p:nvSpPr>
        <p:spPr>
          <a:xfrm>
            <a:off x="762000" y="23450550"/>
            <a:ext cx="647509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 workspace, not a profile page. An </a:t>
            </a:r>
            <a:pPr algn="l" indent="0" marL="0">
              <a:buNone/>
            </a:pPr>
            <a:r>
              <a:rPr lang="en-US" sz="1350" b="1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org </a:t>
            </a:r>
            <a:pPr algn="l" indent="0" marL="0">
              <a:buNone/>
            </a:pPr>
            <a:r>
              <a:rPr lang="en-US" sz="1350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holds a roster; every artist is a context you switch into (Overview · Requests · Calendar · Payments · Profile). An independent artist is just an org of one — same shape, ready to add a manager later.</a:t>
            </a:r>
            <a:endParaRPr lang="en-US" sz="1350" dirty="0"/>
          </a:p>
        </p:txBody>
      </p:sp>
      <p:sp>
        <p:nvSpPr>
          <p:cNvPr id="293" name="Shape 291"/>
          <p:cNvSpPr/>
          <p:nvPr/>
        </p:nvSpPr>
        <p:spPr>
          <a:xfrm rot="-72000">
            <a:off x="11239500" y="23109080"/>
            <a:ext cx="2266951" cy="800100"/>
          </a:xfrm>
          <a:prstGeom prst="rect">
            <a:avLst/>
          </a:prstGeom>
          <a:solidFill>
            <a:srgbClr val="FEF4A8"/>
          </a:solidFill>
          <a:ln/>
          <a:effectLst>
            <a:outerShdw sx="100000" sy="100000" kx="0" ky="0" algn="bl" rotWithShape="0" blurRad="57150" dist="19050" dir="5400000">
              <a:srgbClr val="000000">
                <a:alpha val="16000"/>
              </a:srgbClr>
            </a:outerShdw>
          </a:effectLst>
        </p:spPr>
      </p:sp>
      <p:sp>
        <p:nvSpPr>
          <p:cNvPr id="294" name="Text 292"/>
          <p:cNvSpPr/>
          <p:nvPr/>
        </p:nvSpPr>
        <p:spPr>
          <a:xfrm rot="-72000">
            <a:off x="11372850" y="23223380"/>
            <a:ext cx="207645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Best if the buyer is the </a:t>
            </a:r>
            <a:pPr algn="l" indent="0" marL="0">
              <a:lnSpc>
                <a:spcPct val="134000"/>
              </a:lnSpc>
              <a:buNone/>
            </a:pPr>
            <a:r>
              <a:rPr lang="en-US" sz="1125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manager / label </a:t>
            </a:r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— power tool for teams handling many acts.</a:t>
            </a:r>
            <a:endParaRPr lang="en-US" sz="1125" dirty="0"/>
          </a:p>
        </p:txBody>
      </p:sp>
      <p:sp>
        <p:nvSpPr>
          <p:cNvPr id="295" name="Text 293"/>
          <p:cNvSpPr/>
          <p:nvPr/>
        </p:nvSpPr>
        <p:spPr>
          <a:xfrm>
            <a:off x="781050" y="24145875"/>
            <a:ext cx="231500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 · Org workspace — artist context</a:t>
            </a:r>
            <a:endParaRPr lang="en-US" sz="900" dirty="0"/>
          </a:p>
        </p:txBody>
      </p:sp>
      <p:sp>
        <p:nvSpPr>
          <p:cNvPr id="296" name="Shape 294"/>
          <p:cNvSpPr/>
          <p:nvPr/>
        </p:nvSpPr>
        <p:spPr>
          <a:xfrm>
            <a:off x="762000" y="24384000"/>
            <a:ext cx="7429500" cy="3078480"/>
          </a:xfrm>
          <a:prstGeom prst="roundRect">
            <a:avLst>
              <a:gd name="adj" fmla="val 4332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297" name="Shape 295"/>
          <p:cNvSpPr/>
          <p:nvPr/>
        </p:nvSpPr>
        <p:spPr>
          <a:xfrm>
            <a:off x="777240" y="24399241"/>
            <a:ext cx="1836420" cy="3048000"/>
          </a:xfrm>
          <a:prstGeom prst="rect">
            <a:avLst/>
          </a:prstGeom>
          <a:solidFill>
            <a:srgbClr val="F1ECE2"/>
          </a:solidFill>
          <a:ln/>
        </p:spPr>
      </p:sp>
      <p:sp>
        <p:nvSpPr>
          <p:cNvPr id="298" name="Shape 296"/>
          <p:cNvSpPr/>
          <p:nvPr/>
        </p:nvSpPr>
        <p:spPr>
          <a:xfrm>
            <a:off x="2606040" y="24399241"/>
            <a:ext cx="9525" cy="3048000"/>
          </a:xfrm>
          <a:prstGeom prst="rect">
            <a:avLst/>
          </a:prstGeom>
          <a:solidFill>
            <a:srgbClr val="E0D8C8"/>
          </a:solidFill>
          <a:ln/>
        </p:spPr>
      </p:sp>
      <p:sp>
        <p:nvSpPr>
          <p:cNvPr id="299" name="Shape 297"/>
          <p:cNvSpPr/>
          <p:nvPr/>
        </p:nvSpPr>
        <p:spPr>
          <a:xfrm>
            <a:off x="882015" y="24530686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1B1916"/>
          </a:solidFill>
          <a:ln/>
        </p:spPr>
      </p:sp>
      <p:sp>
        <p:nvSpPr>
          <p:cNvPr id="300" name="Text 298"/>
          <p:cNvSpPr/>
          <p:nvPr/>
        </p:nvSpPr>
        <p:spPr>
          <a:xfrm>
            <a:off x="843915" y="24530686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750" dirty="0"/>
          </a:p>
        </p:txBody>
      </p:sp>
      <p:sp>
        <p:nvSpPr>
          <p:cNvPr id="301" name="Text 299"/>
          <p:cNvSpPr/>
          <p:nvPr/>
        </p:nvSpPr>
        <p:spPr>
          <a:xfrm>
            <a:off x="1110615" y="24513541"/>
            <a:ext cx="893921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Nightshade ▾</a:t>
            </a:r>
            <a:endParaRPr lang="en-US" sz="1275" dirty="0"/>
          </a:p>
        </p:txBody>
      </p:sp>
      <p:sp>
        <p:nvSpPr>
          <p:cNvPr id="302" name="Text 300"/>
          <p:cNvSpPr/>
          <p:nvPr/>
        </p:nvSpPr>
        <p:spPr>
          <a:xfrm>
            <a:off x="882015" y="24824055"/>
            <a:ext cx="178117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75" kern="0" dirty="0">
                <a:solidFill>
                  <a:srgbClr val="A59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ROSTER</a:t>
            </a:r>
            <a:endParaRPr lang="en-US" sz="750" dirty="0"/>
          </a:p>
        </p:txBody>
      </p:sp>
      <p:sp>
        <p:nvSpPr>
          <p:cNvPr id="303" name="Shape 301"/>
          <p:cNvSpPr/>
          <p:nvPr/>
        </p:nvSpPr>
        <p:spPr>
          <a:xfrm>
            <a:off x="882015" y="25003125"/>
            <a:ext cx="1619250" cy="312420"/>
          </a:xfrm>
          <a:prstGeom prst="roundRect">
            <a:avLst>
              <a:gd name="adj" fmla="val 21341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956310" y="25073611"/>
            <a:ext cx="171450" cy="17145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305" name="Text 303"/>
          <p:cNvSpPr/>
          <p:nvPr/>
        </p:nvSpPr>
        <p:spPr>
          <a:xfrm>
            <a:off x="1194435" y="25067895"/>
            <a:ext cx="42362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</a:t>
            </a:r>
            <a:endParaRPr lang="en-US" sz="1125" dirty="0"/>
          </a:p>
        </p:txBody>
      </p:sp>
      <p:sp>
        <p:nvSpPr>
          <p:cNvPr id="306" name="Shape 304"/>
          <p:cNvSpPr/>
          <p:nvPr/>
        </p:nvSpPr>
        <p:spPr>
          <a:xfrm>
            <a:off x="948690" y="25416511"/>
            <a:ext cx="171450" cy="171450"/>
          </a:xfrm>
          <a:prstGeom prst="ellipse">
            <a:avLst/>
          </a:prstGeom>
          <a:solidFill>
            <a:srgbClr val="CABFA9"/>
          </a:solidFill>
          <a:ln/>
        </p:spPr>
      </p:sp>
      <p:sp>
        <p:nvSpPr>
          <p:cNvPr id="307" name="Text 305"/>
          <p:cNvSpPr/>
          <p:nvPr/>
        </p:nvSpPr>
        <p:spPr>
          <a:xfrm>
            <a:off x="1186815" y="25410795"/>
            <a:ext cx="353854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LUNA</a:t>
            </a:r>
            <a:endParaRPr lang="en-US" sz="1125" dirty="0"/>
          </a:p>
        </p:txBody>
      </p:sp>
      <p:sp>
        <p:nvSpPr>
          <p:cNvPr id="308" name="Shape 306"/>
          <p:cNvSpPr/>
          <p:nvPr/>
        </p:nvSpPr>
        <p:spPr>
          <a:xfrm>
            <a:off x="948690" y="25751791"/>
            <a:ext cx="171450" cy="171450"/>
          </a:xfrm>
          <a:prstGeom prst="ellipse">
            <a:avLst/>
          </a:prstGeom>
          <a:solidFill>
            <a:srgbClr val="CABFA9"/>
          </a:solidFill>
          <a:ln/>
        </p:spPr>
      </p:sp>
      <p:sp>
        <p:nvSpPr>
          <p:cNvPr id="309" name="Text 307"/>
          <p:cNvSpPr/>
          <p:nvPr/>
        </p:nvSpPr>
        <p:spPr>
          <a:xfrm>
            <a:off x="1186815" y="25746075"/>
            <a:ext cx="36623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SOBA</a:t>
            </a:r>
            <a:endParaRPr lang="en-US" sz="1125" dirty="0"/>
          </a:p>
        </p:txBody>
      </p:sp>
      <p:sp>
        <p:nvSpPr>
          <p:cNvPr id="310" name="Shape 308"/>
          <p:cNvSpPr/>
          <p:nvPr/>
        </p:nvSpPr>
        <p:spPr>
          <a:xfrm>
            <a:off x="948690" y="26087070"/>
            <a:ext cx="171450" cy="171450"/>
          </a:xfrm>
          <a:prstGeom prst="ellipse">
            <a:avLst/>
          </a:prstGeom>
          <a:solidFill>
            <a:srgbClr val="CABFA9"/>
          </a:solidFill>
          <a:ln/>
        </p:spPr>
      </p:sp>
      <p:sp>
        <p:nvSpPr>
          <p:cNvPr id="311" name="Text 309"/>
          <p:cNvSpPr/>
          <p:nvPr/>
        </p:nvSpPr>
        <p:spPr>
          <a:xfrm>
            <a:off x="1186815" y="26081355"/>
            <a:ext cx="306229" cy="220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ODE</a:t>
            </a:r>
            <a:endParaRPr lang="en-US" sz="1125" dirty="0"/>
          </a:p>
        </p:txBody>
      </p:sp>
      <p:sp>
        <p:nvSpPr>
          <p:cNvPr id="312" name="Text 310"/>
          <p:cNvSpPr/>
          <p:nvPr/>
        </p:nvSpPr>
        <p:spPr>
          <a:xfrm>
            <a:off x="948690" y="26416636"/>
            <a:ext cx="156210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+ add artist</a:t>
            </a:r>
            <a:endParaRPr lang="en-US" sz="1125" dirty="0"/>
          </a:p>
        </p:txBody>
      </p:sp>
      <p:sp>
        <p:nvSpPr>
          <p:cNvPr id="313" name="Shape 311"/>
          <p:cNvSpPr/>
          <p:nvPr/>
        </p:nvSpPr>
        <p:spPr>
          <a:xfrm>
            <a:off x="2747010" y="24542116"/>
            <a:ext cx="453390" cy="453390"/>
          </a:xfrm>
          <a:prstGeom prst="roundRect">
            <a:avLst>
              <a:gd name="adj" fmla="val 23109"/>
            </a:avLst>
          </a:prstGeom>
          <a:solidFill>
            <a:srgbClr val="ECE8DF"/>
          </a:solidFill>
          <a:ln w="7620">
            <a:solidFill>
              <a:srgbClr val="CFC8B8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3305175" y="24532591"/>
            <a:ext cx="1139547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</a:t>
            </a:r>
            <a:endParaRPr lang="en-US" sz="1950" dirty="0"/>
          </a:p>
        </p:txBody>
      </p:sp>
      <p:sp>
        <p:nvSpPr>
          <p:cNvPr id="315" name="Text 313"/>
          <p:cNvSpPr/>
          <p:nvPr/>
        </p:nvSpPr>
        <p:spPr>
          <a:xfrm>
            <a:off x="3305175" y="24845011"/>
            <a:ext cx="1139547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techno · Berlin · managed</a:t>
            </a:r>
            <a:endParaRPr lang="en-US" sz="975" dirty="0"/>
          </a:p>
        </p:txBody>
      </p:sp>
      <p:sp>
        <p:nvSpPr>
          <p:cNvPr id="316" name="Shape 314"/>
          <p:cNvSpPr/>
          <p:nvPr/>
        </p:nvSpPr>
        <p:spPr>
          <a:xfrm>
            <a:off x="7040166" y="24622125"/>
            <a:ext cx="1002744" cy="29337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317" name="Text 315"/>
          <p:cNvSpPr/>
          <p:nvPr/>
        </p:nvSpPr>
        <p:spPr>
          <a:xfrm>
            <a:off x="7163991" y="24669750"/>
            <a:ext cx="831294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Public profile ↗</a:t>
            </a:r>
            <a:endParaRPr lang="en-US" sz="1125" dirty="0"/>
          </a:p>
        </p:txBody>
      </p:sp>
      <p:sp>
        <p:nvSpPr>
          <p:cNvPr id="318" name="Shape 316"/>
          <p:cNvSpPr/>
          <p:nvPr/>
        </p:nvSpPr>
        <p:spPr>
          <a:xfrm>
            <a:off x="2747010" y="25391745"/>
            <a:ext cx="5295900" cy="9525"/>
          </a:xfrm>
          <a:prstGeom prst="rect">
            <a:avLst/>
          </a:prstGeom>
          <a:solidFill>
            <a:srgbClr val="E4DDCD"/>
          </a:solidFill>
          <a:ln/>
        </p:spPr>
      </p:sp>
      <p:sp>
        <p:nvSpPr>
          <p:cNvPr id="319" name="Shape 317"/>
          <p:cNvSpPr/>
          <p:nvPr/>
        </p:nvSpPr>
        <p:spPr>
          <a:xfrm>
            <a:off x="2747010" y="25368885"/>
            <a:ext cx="418148" cy="22860"/>
          </a:xfrm>
          <a:prstGeom prst="rect">
            <a:avLst/>
          </a:prstGeom>
          <a:solidFill>
            <a:srgbClr val="FF5F00"/>
          </a:solidFill>
          <a:ln/>
        </p:spPr>
      </p:sp>
      <p:sp>
        <p:nvSpPr>
          <p:cNvPr id="320" name="Text 318"/>
          <p:cNvSpPr/>
          <p:nvPr/>
        </p:nvSpPr>
        <p:spPr>
          <a:xfrm>
            <a:off x="2747010" y="25109805"/>
            <a:ext cx="494348" cy="230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Overview</a:t>
            </a:r>
            <a:endParaRPr lang="en-US" sz="1125" dirty="0"/>
          </a:p>
        </p:txBody>
      </p:sp>
      <p:sp>
        <p:nvSpPr>
          <p:cNvPr id="321" name="Text 319"/>
          <p:cNvSpPr/>
          <p:nvPr/>
        </p:nvSpPr>
        <p:spPr>
          <a:xfrm>
            <a:off x="3317558" y="25109805"/>
            <a:ext cx="553641" cy="25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Requests</a:t>
            </a:r>
            <a:pPr algn="l" indent="0" marL="0">
              <a:buNone/>
            </a:pPr>
            <a:r>
              <a:rPr lang="en-US" sz="938" b="1" baseline="30000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</a:t>
            </a:r>
            <a:endParaRPr lang="en-US" sz="1125" dirty="0"/>
          </a:p>
        </p:txBody>
      </p:sp>
      <p:sp>
        <p:nvSpPr>
          <p:cNvPr id="322" name="Text 320"/>
          <p:cNvSpPr/>
          <p:nvPr/>
        </p:nvSpPr>
        <p:spPr>
          <a:xfrm>
            <a:off x="3947398" y="25109805"/>
            <a:ext cx="512683" cy="25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Calendar</a:t>
            </a:r>
            <a:endParaRPr lang="en-US" sz="1125" dirty="0"/>
          </a:p>
        </p:txBody>
      </p:sp>
      <p:sp>
        <p:nvSpPr>
          <p:cNvPr id="323" name="Text 321"/>
          <p:cNvSpPr/>
          <p:nvPr/>
        </p:nvSpPr>
        <p:spPr>
          <a:xfrm>
            <a:off x="4536281" y="25109805"/>
            <a:ext cx="543163" cy="25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Payments</a:t>
            </a:r>
            <a:endParaRPr lang="en-US" sz="1125" dirty="0"/>
          </a:p>
        </p:txBody>
      </p:sp>
      <p:sp>
        <p:nvSpPr>
          <p:cNvPr id="324" name="Text 322"/>
          <p:cNvSpPr/>
          <p:nvPr/>
        </p:nvSpPr>
        <p:spPr>
          <a:xfrm>
            <a:off x="5155645" y="25109805"/>
            <a:ext cx="383619" cy="2533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Profile</a:t>
            </a:r>
            <a:endParaRPr lang="en-US" sz="1125" dirty="0"/>
          </a:p>
        </p:txBody>
      </p:sp>
      <p:sp>
        <p:nvSpPr>
          <p:cNvPr id="325" name="Shape 323"/>
          <p:cNvSpPr/>
          <p:nvPr/>
        </p:nvSpPr>
        <p:spPr>
          <a:xfrm>
            <a:off x="2747010" y="25523191"/>
            <a:ext cx="1701760" cy="670560"/>
          </a:xfrm>
          <a:prstGeom prst="roundRect">
            <a:avLst>
              <a:gd name="adj" fmla="val 12784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2849880" y="25626061"/>
            <a:ext cx="16456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</a:t>
            </a:r>
            <a:endParaRPr lang="en-US" sz="1950" dirty="0"/>
          </a:p>
        </p:txBody>
      </p:sp>
      <p:sp>
        <p:nvSpPr>
          <p:cNvPr id="327" name="Text 325"/>
          <p:cNvSpPr/>
          <p:nvPr/>
        </p:nvSpPr>
        <p:spPr>
          <a:xfrm>
            <a:off x="2849880" y="25938480"/>
            <a:ext cx="16456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57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requests</a:t>
            </a:r>
            <a:endParaRPr lang="en-US" sz="900" dirty="0"/>
          </a:p>
        </p:txBody>
      </p:sp>
      <p:sp>
        <p:nvSpPr>
          <p:cNvPr id="328" name="Shape 326"/>
          <p:cNvSpPr/>
          <p:nvPr/>
        </p:nvSpPr>
        <p:spPr>
          <a:xfrm>
            <a:off x="4544020" y="25523191"/>
            <a:ext cx="1701879" cy="670560"/>
          </a:xfrm>
          <a:prstGeom prst="roundRect">
            <a:avLst>
              <a:gd name="adj" fmla="val 12784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29" name="Text 327"/>
          <p:cNvSpPr/>
          <p:nvPr/>
        </p:nvSpPr>
        <p:spPr>
          <a:xfrm>
            <a:off x="4646890" y="25626061"/>
            <a:ext cx="1645753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</a:t>
            </a:r>
            <a:endParaRPr lang="en-US" sz="1950" dirty="0"/>
          </a:p>
        </p:txBody>
      </p:sp>
      <p:sp>
        <p:nvSpPr>
          <p:cNvPr id="330" name="Text 328"/>
          <p:cNvSpPr/>
          <p:nvPr/>
        </p:nvSpPr>
        <p:spPr>
          <a:xfrm>
            <a:off x="4646890" y="25938480"/>
            <a:ext cx="164575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57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holds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6341150" y="25523191"/>
            <a:ext cx="1701760" cy="670560"/>
          </a:xfrm>
          <a:prstGeom prst="roundRect">
            <a:avLst>
              <a:gd name="adj" fmla="val 12784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6444020" y="25626061"/>
            <a:ext cx="164562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€21k</a:t>
            </a:r>
            <a:endParaRPr lang="en-US" sz="1950" dirty="0"/>
          </a:p>
        </p:txBody>
      </p:sp>
      <p:sp>
        <p:nvSpPr>
          <p:cNvPr id="333" name="Text 331"/>
          <p:cNvSpPr/>
          <p:nvPr/>
        </p:nvSpPr>
        <p:spPr>
          <a:xfrm>
            <a:off x="6444020" y="25938480"/>
            <a:ext cx="164562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57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Q4</a:t>
            </a:r>
            <a:endParaRPr lang="en-US" sz="900" dirty="0"/>
          </a:p>
        </p:txBody>
      </p:sp>
      <p:sp>
        <p:nvSpPr>
          <p:cNvPr id="334" name="Text 332"/>
          <p:cNvSpPr/>
          <p:nvPr/>
        </p:nvSpPr>
        <p:spPr>
          <a:xfrm>
            <a:off x="2747010" y="26298525"/>
            <a:ext cx="582549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YOU</a:t>
            </a:r>
            <a:endParaRPr lang="en-US" sz="675" dirty="0"/>
          </a:p>
        </p:txBody>
      </p:sp>
      <p:sp>
        <p:nvSpPr>
          <p:cNvPr id="335" name="Shape 333"/>
          <p:cNvSpPr/>
          <p:nvPr/>
        </p:nvSpPr>
        <p:spPr>
          <a:xfrm>
            <a:off x="2747010" y="26469975"/>
            <a:ext cx="5295900" cy="369570"/>
          </a:xfrm>
          <a:prstGeom prst="roundRect">
            <a:avLst>
              <a:gd name="adj" fmla="val 20619"/>
            </a:avLst>
          </a:prstGeom>
          <a:solidFill>
            <a:srgbClr val="FFF5EF"/>
          </a:solidFill>
          <a:ln w="7620">
            <a:solidFill>
              <a:srgbClr val="FFBA8C"/>
            </a:solidFill>
            <a:prstDash val="dash"/>
          </a:ln>
        </p:spPr>
      </p:sp>
      <p:sp>
        <p:nvSpPr>
          <p:cNvPr id="336" name="Text 334"/>
          <p:cNvSpPr/>
          <p:nvPr/>
        </p:nvSpPr>
        <p:spPr>
          <a:xfrm>
            <a:off x="2840355" y="26563320"/>
            <a:ext cx="526808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5460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Sónar offer — promoter countered €9k → €8k · respond</a:t>
            </a:r>
            <a:endParaRPr lang="en-US" sz="1125" dirty="0"/>
          </a:p>
        </p:txBody>
      </p:sp>
      <p:sp>
        <p:nvSpPr>
          <p:cNvPr id="337" name="Shape 335"/>
          <p:cNvSpPr/>
          <p:nvPr/>
        </p:nvSpPr>
        <p:spPr>
          <a:xfrm>
            <a:off x="2747010" y="26896695"/>
            <a:ext cx="5295900" cy="369570"/>
          </a:xfrm>
          <a:prstGeom prst="roundRect">
            <a:avLst>
              <a:gd name="adj" fmla="val 20619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2840355" y="26990040"/>
            <a:ext cx="5268087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Dekmantel — new inquiry, needs a fee</a:t>
            </a:r>
            <a:endParaRPr lang="en-US" sz="1125" dirty="0"/>
          </a:p>
        </p:txBody>
      </p:sp>
      <p:sp>
        <p:nvSpPr>
          <p:cNvPr id="339" name="Text 337"/>
          <p:cNvSpPr/>
          <p:nvPr/>
        </p:nvSpPr>
        <p:spPr>
          <a:xfrm>
            <a:off x="8591550" y="24145875"/>
            <a:ext cx="194501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 · Independent = org of one</a:t>
            </a:r>
            <a:endParaRPr lang="en-US" sz="900" dirty="0"/>
          </a:p>
        </p:txBody>
      </p:sp>
      <p:sp>
        <p:nvSpPr>
          <p:cNvPr id="340" name="Shape 338"/>
          <p:cNvSpPr/>
          <p:nvPr/>
        </p:nvSpPr>
        <p:spPr>
          <a:xfrm>
            <a:off x="8572500" y="24384000"/>
            <a:ext cx="3333750" cy="2562225"/>
          </a:xfrm>
          <a:prstGeom prst="roundRect">
            <a:avLst>
              <a:gd name="adj" fmla="val 5204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341" name="Text 339"/>
          <p:cNvSpPr/>
          <p:nvPr/>
        </p:nvSpPr>
        <p:spPr>
          <a:xfrm>
            <a:off x="8721090" y="24532591"/>
            <a:ext cx="3340227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Same shape, solo</a:t>
            </a:r>
            <a:endParaRPr lang="en-US" sz="1650" dirty="0"/>
          </a:p>
        </p:txBody>
      </p:sp>
      <p:sp>
        <p:nvSpPr>
          <p:cNvPr id="342" name="Text 340"/>
          <p:cNvSpPr/>
          <p:nvPr/>
        </p:nvSpPr>
        <p:spPr>
          <a:xfrm>
            <a:off x="8721090" y="24829770"/>
            <a:ext cx="3127667" cy="4038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No manager? You ARE the org. The desk looks identical — just one artist in the roster.</a:t>
            </a:r>
            <a:endParaRPr lang="en-US" sz="1125" dirty="0"/>
          </a:p>
        </p:txBody>
      </p:sp>
      <p:sp>
        <p:nvSpPr>
          <p:cNvPr id="343" name="Shape 341"/>
          <p:cNvSpPr/>
          <p:nvPr/>
        </p:nvSpPr>
        <p:spPr>
          <a:xfrm>
            <a:off x="8721090" y="25309830"/>
            <a:ext cx="3036570" cy="771525"/>
          </a:xfrm>
          <a:prstGeom prst="roundRect">
            <a:avLst>
              <a:gd name="adj" fmla="val 11111"/>
            </a:avLst>
          </a:prstGeom>
          <a:solidFill>
            <a:srgbClr val="F1ECE2"/>
          </a:solidFill>
          <a:ln w="7620">
            <a:solidFill>
              <a:srgbClr val="E0D8C8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8833485" y="25427941"/>
            <a:ext cx="171450" cy="171450"/>
          </a:xfrm>
          <a:prstGeom prst="roundRect">
            <a:avLst>
              <a:gd name="adj" fmla="val 27778"/>
            </a:avLst>
          </a:prstGeom>
          <a:solidFill>
            <a:srgbClr val="FF5F00"/>
          </a:solidFill>
          <a:ln/>
        </p:spPr>
      </p:sp>
      <p:sp>
        <p:nvSpPr>
          <p:cNvPr id="345" name="Text 343"/>
          <p:cNvSpPr/>
          <p:nvPr/>
        </p:nvSpPr>
        <p:spPr>
          <a:xfrm>
            <a:off x="8795385" y="25427941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160B0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675" dirty="0"/>
          </a:p>
        </p:txBody>
      </p:sp>
      <p:sp>
        <p:nvSpPr>
          <p:cNvPr id="346" name="Text 344"/>
          <p:cNvSpPr/>
          <p:nvPr/>
        </p:nvSpPr>
        <p:spPr>
          <a:xfrm>
            <a:off x="9071610" y="25422225"/>
            <a:ext cx="80700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SOBA (you) ▾</a:t>
            </a:r>
            <a:endParaRPr lang="en-US" sz="1125" dirty="0"/>
          </a:p>
        </p:txBody>
      </p:sp>
      <p:sp>
        <p:nvSpPr>
          <p:cNvPr id="347" name="Shape 345"/>
          <p:cNvSpPr/>
          <p:nvPr/>
        </p:nvSpPr>
        <p:spPr>
          <a:xfrm>
            <a:off x="8833485" y="25671780"/>
            <a:ext cx="2811780" cy="297180"/>
          </a:xfrm>
          <a:prstGeom prst="roundRect">
            <a:avLst>
              <a:gd name="adj" fmla="val 22436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8907780" y="25744170"/>
            <a:ext cx="152400" cy="152400"/>
          </a:xfrm>
          <a:prstGeom prst="ellipse">
            <a:avLst/>
          </a:prstGeom>
          <a:solidFill>
            <a:srgbClr val="FF5F00"/>
          </a:solidFill>
          <a:ln/>
        </p:spPr>
      </p:sp>
      <p:sp>
        <p:nvSpPr>
          <p:cNvPr id="349" name="Text 347"/>
          <p:cNvSpPr/>
          <p:nvPr/>
        </p:nvSpPr>
        <p:spPr>
          <a:xfrm>
            <a:off x="9126855" y="25736550"/>
            <a:ext cx="348615" cy="20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SOBA</a:t>
            </a:r>
            <a:endParaRPr lang="en-US" sz="1050" dirty="0"/>
          </a:p>
        </p:txBody>
      </p:sp>
      <p:sp>
        <p:nvSpPr>
          <p:cNvPr id="350" name="Shape 348"/>
          <p:cNvSpPr/>
          <p:nvPr/>
        </p:nvSpPr>
        <p:spPr>
          <a:xfrm>
            <a:off x="8721090" y="26186130"/>
            <a:ext cx="3036570" cy="611505"/>
          </a:xfrm>
          <a:prstGeom prst="roundRect">
            <a:avLst>
              <a:gd name="adj" fmla="val 14019"/>
            </a:avLst>
          </a:prstGeom>
          <a:solidFill>
            <a:srgbClr val="FFFFFF"/>
          </a:solidFill>
          <a:ln w="7620">
            <a:solidFill>
              <a:srgbClr val="C3BBA9"/>
            </a:solidFill>
            <a:prstDash val="dash"/>
          </a:ln>
        </p:spPr>
      </p:sp>
      <p:sp>
        <p:nvSpPr>
          <p:cNvPr id="351" name="Text 349"/>
          <p:cNvSpPr/>
          <p:nvPr/>
        </p:nvSpPr>
        <p:spPr>
          <a:xfrm>
            <a:off x="8692896" y="26298525"/>
            <a:ext cx="3092958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+ Invite a manager</a:t>
            </a:r>
            <a:endParaRPr lang="en-US" sz="1275" dirty="0"/>
          </a:p>
        </p:txBody>
      </p:sp>
      <p:sp>
        <p:nvSpPr>
          <p:cNvPr id="352" name="Text 350"/>
          <p:cNvSpPr/>
          <p:nvPr/>
        </p:nvSpPr>
        <p:spPr>
          <a:xfrm>
            <a:off x="8692896" y="26525220"/>
            <a:ext cx="309295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hand off requests &amp; calendar later — nothing to migrate</a:t>
            </a:r>
            <a:endParaRPr lang="en-US" sz="975" dirty="0"/>
          </a:p>
        </p:txBody>
      </p:sp>
      <p:sp>
        <p:nvSpPr>
          <p:cNvPr id="353" name="Text 351"/>
          <p:cNvSpPr/>
          <p:nvPr/>
        </p:nvSpPr>
        <p:spPr>
          <a:xfrm>
            <a:off x="12306300" y="24145875"/>
            <a:ext cx="15755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 · Team &amp; permissions</a:t>
            </a:r>
            <a:endParaRPr lang="en-US" sz="900" dirty="0"/>
          </a:p>
        </p:txBody>
      </p:sp>
      <p:sp>
        <p:nvSpPr>
          <p:cNvPr id="354" name="Shape 352"/>
          <p:cNvSpPr/>
          <p:nvPr/>
        </p:nvSpPr>
        <p:spPr>
          <a:xfrm>
            <a:off x="12287250" y="24384000"/>
            <a:ext cx="3238500" cy="2964180"/>
          </a:xfrm>
          <a:prstGeom prst="roundRect">
            <a:avLst>
              <a:gd name="adj" fmla="val 4499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355" name="Text 353"/>
          <p:cNvSpPr/>
          <p:nvPr/>
        </p:nvSpPr>
        <p:spPr>
          <a:xfrm>
            <a:off x="12435840" y="24532591"/>
            <a:ext cx="323545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Who can do what</a:t>
            </a:r>
            <a:endParaRPr lang="en-US" sz="1650" dirty="0"/>
          </a:p>
        </p:txBody>
      </p:sp>
      <p:sp>
        <p:nvSpPr>
          <p:cNvPr id="356" name="Shape 354"/>
          <p:cNvSpPr/>
          <p:nvPr/>
        </p:nvSpPr>
        <p:spPr>
          <a:xfrm>
            <a:off x="12435840" y="24896445"/>
            <a:ext cx="2941320" cy="556260"/>
          </a:xfrm>
          <a:prstGeom prst="roundRect">
            <a:avLst>
              <a:gd name="adj" fmla="val 15411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57" name="Text 355"/>
          <p:cNvSpPr/>
          <p:nvPr/>
        </p:nvSpPr>
        <p:spPr>
          <a:xfrm>
            <a:off x="12538710" y="24999316"/>
            <a:ext cx="98107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Mara — manager</a:t>
            </a:r>
            <a:endParaRPr lang="en-US" sz="1200" dirty="0"/>
          </a:p>
        </p:txBody>
      </p:sp>
      <p:sp>
        <p:nvSpPr>
          <p:cNvPr id="358" name="Text 356"/>
          <p:cNvSpPr/>
          <p:nvPr/>
        </p:nvSpPr>
        <p:spPr>
          <a:xfrm>
            <a:off x="15027950" y="25033605"/>
            <a:ext cx="322540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FF5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750" dirty="0"/>
          </a:p>
        </p:txBody>
      </p:sp>
      <p:sp>
        <p:nvSpPr>
          <p:cNvPr id="359" name="Text 357"/>
          <p:cNvSpPr/>
          <p:nvPr/>
        </p:nvSpPr>
        <p:spPr>
          <a:xfrm>
            <a:off x="12538710" y="25189816"/>
            <a:ext cx="30091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accept offers · set fees · sign · payouts</a:t>
            </a:r>
            <a:endParaRPr lang="en-US" sz="975" dirty="0"/>
          </a:p>
        </p:txBody>
      </p:sp>
      <p:sp>
        <p:nvSpPr>
          <p:cNvPr id="360" name="Shape 358"/>
          <p:cNvSpPr/>
          <p:nvPr/>
        </p:nvSpPr>
        <p:spPr>
          <a:xfrm>
            <a:off x="12435840" y="25528905"/>
            <a:ext cx="2941320" cy="556260"/>
          </a:xfrm>
          <a:prstGeom prst="roundRect">
            <a:avLst>
              <a:gd name="adj" fmla="val 15411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61" name="Text 359"/>
          <p:cNvSpPr/>
          <p:nvPr/>
        </p:nvSpPr>
        <p:spPr>
          <a:xfrm>
            <a:off x="12538710" y="25631775"/>
            <a:ext cx="112978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Jon — booking agent</a:t>
            </a:r>
            <a:endParaRPr lang="en-US" sz="1200" dirty="0"/>
          </a:p>
        </p:txBody>
      </p:sp>
      <p:sp>
        <p:nvSpPr>
          <p:cNvPr id="362" name="Text 360"/>
          <p:cNvSpPr/>
          <p:nvPr/>
        </p:nvSpPr>
        <p:spPr>
          <a:xfrm>
            <a:off x="14690765" y="25666066"/>
            <a:ext cx="659725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C4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750" dirty="0"/>
          </a:p>
        </p:txBody>
      </p:sp>
      <p:sp>
        <p:nvSpPr>
          <p:cNvPr id="363" name="Text 361"/>
          <p:cNvSpPr/>
          <p:nvPr/>
        </p:nvSpPr>
        <p:spPr>
          <a:xfrm>
            <a:off x="12538710" y="25822275"/>
            <a:ext cx="30091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reply &amp; counter · can't sign / pay</a:t>
            </a:r>
            <a:endParaRPr lang="en-US" sz="975" dirty="0"/>
          </a:p>
        </p:txBody>
      </p:sp>
      <p:sp>
        <p:nvSpPr>
          <p:cNvPr id="364" name="Shape 362"/>
          <p:cNvSpPr/>
          <p:nvPr/>
        </p:nvSpPr>
        <p:spPr>
          <a:xfrm>
            <a:off x="12435840" y="26161366"/>
            <a:ext cx="2941320" cy="556260"/>
          </a:xfrm>
          <a:prstGeom prst="roundRect">
            <a:avLst>
              <a:gd name="adj" fmla="val 15411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65" name="Text 363"/>
          <p:cNvSpPr/>
          <p:nvPr/>
        </p:nvSpPr>
        <p:spPr>
          <a:xfrm>
            <a:off x="12538710" y="26264236"/>
            <a:ext cx="91368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 — artist</a:t>
            </a:r>
            <a:endParaRPr lang="en-US" sz="1200" dirty="0"/>
          </a:p>
        </p:txBody>
      </p:sp>
      <p:sp>
        <p:nvSpPr>
          <p:cNvPr id="366" name="Text 364"/>
          <p:cNvSpPr/>
          <p:nvPr/>
        </p:nvSpPr>
        <p:spPr>
          <a:xfrm>
            <a:off x="14789230" y="26298525"/>
            <a:ext cx="56126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750" dirty="0"/>
          </a:p>
        </p:txBody>
      </p:sp>
      <p:sp>
        <p:nvSpPr>
          <p:cNvPr id="367" name="Text 365"/>
          <p:cNvSpPr/>
          <p:nvPr/>
        </p:nvSpPr>
        <p:spPr>
          <a:xfrm>
            <a:off x="12538710" y="26454736"/>
            <a:ext cx="300913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final yes/no · blackout dates</a:t>
            </a:r>
            <a:endParaRPr lang="en-US" sz="975" dirty="0"/>
          </a:p>
        </p:txBody>
      </p:sp>
      <p:sp>
        <p:nvSpPr>
          <p:cNvPr id="368" name="Shape 366"/>
          <p:cNvSpPr/>
          <p:nvPr/>
        </p:nvSpPr>
        <p:spPr>
          <a:xfrm>
            <a:off x="12435840" y="26822400"/>
            <a:ext cx="2941320" cy="377190"/>
          </a:xfrm>
          <a:prstGeom prst="roundRect">
            <a:avLst>
              <a:gd name="adj" fmla="val 50000"/>
            </a:avLst>
          </a:prstGeom>
          <a:ln w="7620">
            <a:solidFill>
              <a:srgbClr val="2B2A28"/>
            </a:solidFill>
            <a:prstDash val="solid"/>
          </a:ln>
        </p:spPr>
      </p:sp>
      <p:sp>
        <p:nvSpPr>
          <p:cNvPr id="369" name="Text 367"/>
          <p:cNvSpPr/>
          <p:nvPr/>
        </p:nvSpPr>
        <p:spPr>
          <a:xfrm>
            <a:off x="12485065" y="26915745"/>
            <a:ext cx="284287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+ Invite teammate</a:t>
            </a:r>
            <a:endParaRPr lang="en-US" sz="1200" dirty="0"/>
          </a:p>
        </p:txBody>
      </p:sp>
      <p:sp>
        <p:nvSpPr>
          <p:cNvPr id="370" name="Text 368"/>
          <p:cNvSpPr/>
          <p:nvPr/>
        </p:nvSpPr>
        <p:spPr>
          <a:xfrm>
            <a:off x="762000" y="30670500"/>
            <a:ext cx="2304002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 · Describe the Gig</a:t>
            </a:r>
            <a:endParaRPr lang="en-US" sz="2250" dirty="0"/>
          </a:p>
        </p:txBody>
      </p:sp>
      <p:sp>
        <p:nvSpPr>
          <p:cNvPr id="371" name="Text 369"/>
          <p:cNvSpPr/>
          <p:nvPr/>
        </p:nvSpPr>
        <p:spPr>
          <a:xfrm>
            <a:off x="762000" y="31070550"/>
            <a:ext cx="6475095" cy="701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Command-driven. You type the brief in plain language — Showman parses it into structured terms, matches the roster, and turns it into a formal offer. The back-and-forth becomes one structured object both sides edit.</a:t>
            </a:r>
            <a:endParaRPr lang="en-US" sz="1350" dirty="0"/>
          </a:p>
        </p:txBody>
      </p:sp>
      <p:sp>
        <p:nvSpPr>
          <p:cNvPr id="372" name="Shape 370"/>
          <p:cNvSpPr/>
          <p:nvPr/>
        </p:nvSpPr>
        <p:spPr>
          <a:xfrm rot="66000">
            <a:off x="11239499" y="30728602"/>
            <a:ext cx="2266951" cy="609600"/>
          </a:xfrm>
          <a:prstGeom prst="rect">
            <a:avLst/>
          </a:prstGeom>
          <a:solidFill>
            <a:srgbClr val="FEF4A8"/>
          </a:solidFill>
          <a:ln/>
          <a:effectLst>
            <a:outerShdw sx="100000" sy="100000" kx="0" ky="0" algn="bl" rotWithShape="0" blurRad="57150" dist="19050" dir="5400000">
              <a:srgbClr val="000000">
                <a:alpha val="16000"/>
              </a:srgbClr>
            </a:outerShdw>
          </a:effectLst>
        </p:spPr>
      </p:sp>
      <p:sp>
        <p:nvSpPr>
          <p:cNvPr id="373" name="Text 371"/>
          <p:cNvSpPr/>
          <p:nvPr/>
        </p:nvSpPr>
        <p:spPr>
          <a:xfrm rot="66000">
            <a:off x="11372849" y="30842902"/>
            <a:ext cx="207645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Most </a:t>
            </a:r>
            <a:pPr algn="l" indent="0" marL="0">
              <a:lnSpc>
                <a:spcPct val="134000"/>
              </a:lnSpc>
              <a:buNone/>
            </a:pPr>
            <a:r>
              <a:rPr lang="en-US" sz="1125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novel </a:t>
            </a:r>
            <a:pPr algn="l" indent="0" marL="0">
              <a:lnSpc>
                <a:spcPct val="134000"/>
              </a:lnSpc>
              <a:buNone/>
            </a:pPr>
            <a:r>
              <a:rPr lang="en-US" sz="1125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— the differentiator you described, as the core interaction.</a:t>
            </a:r>
            <a:endParaRPr lang="en-US" sz="1125" dirty="0"/>
          </a:p>
        </p:txBody>
      </p:sp>
      <p:sp>
        <p:nvSpPr>
          <p:cNvPr id="374" name="Text 372"/>
          <p:cNvSpPr/>
          <p:nvPr/>
        </p:nvSpPr>
        <p:spPr>
          <a:xfrm>
            <a:off x="781050" y="31765875"/>
            <a:ext cx="107156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 · The brief bar</a:t>
            </a:r>
            <a:endParaRPr lang="en-US" sz="900" dirty="0"/>
          </a:p>
        </p:txBody>
      </p:sp>
      <p:sp>
        <p:nvSpPr>
          <p:cNvPr id="375" name="Shape 373"/>
          <p:cNvSpPr/>
          <p:nvPr/>
        </p:nvSpPr>
        <p:spPr>
          <a:xfrm>
            <a:off x="762000" y="32004000"/>
            <a:ext cx="3429000" cy="2775585"/>
          </a:xfrm>
          <a:prstGeom prst="roundRect">
            <a:avLst>
              <a:gd name="adj" fmla="val 4804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376" name="Text 374"/>
          <p:cNvSpPr/>
          <p:nvPr/>
        </p:nvSpPr>
        <p:spPr>
          <a:xfrm>
            <a:off x="910590" y="32152591"/>
            <a:ext cx="34450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Tell us the gig ⌘</a:t>
            </a:r>
            <a:endParaRPr lang="en-US" sz="1650" dirty="0"/>
          </a:p>
        </p:txBody>
      </p:sp>
      <p:sp>
        <p:nvSpPr>
          <p:cNvPr id="377" name="Shape 375"/>
          <p:cNvSpPr/>
          <p:nvPr/>
        </p:nvSpPr>
        <p:spPr>
          <a:xfrm>
            <a:off x="910590" y="32505016"/>
            <a:ext cx="3131820" cy="693420"/>
          </a:xfrm>
          <a:prstGeom prst="roundRect">
            <a:avLst>
              <a:gd name="adj" fmla="val 15110"/>
            </a:avLst>
          </a:prstGeom>
          <a:solidFill>
            <a:srgbClr val="FFFFFF"/>
          </a:solidFill>
          <a:ln w="15240">
            <a:solidFill>
              <a:srgbClr val="2B2A28"/>
            </a:solidFill>
            <a:prstDash val="solid"/>
          </a:ln>
        </p:spPr>
      </p:sp>
      <p:sp>
        <p:nvSpPr>
          <p:cNvPr id="378" name="Text 376"/>
          <p:cNvSpPr/>
          <p:nvPr/>
        </p:nvSpPr>
        <p:spPr>
          <a:xfrm>
            <a:off x="1030605" y="32625031"/>
            <a:ext cx="2985745" cy="49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FFF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“Need a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E3C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techno DJ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FFF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for a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E3C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warehouse rave in Berlin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FFF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,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E3C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mid-Oct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FFF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, 90-min headline, budget around 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E3C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€8k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26241F"/>
                </a:solidFill>
                <a:highlight>
                  <a:srgbClr val="FFFFFF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.”</a:t>
            </a:r>
            <a:pPr algn="l" indent="0" marL="0">
              <a:lnSpc>
                <a:spcPct val="140000"/>
              </a:lnSpc>
              <a:buNone/>
            </a:pPr>
            <a:r>
              <a:rPr lang="en-US" sz="1275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▍</a:t>
            </a:r>
            <a:endParaRPr lang="en-US" sz="1275" dirty="0"/>
          </a:p>
        </p:txBody>
      </p:sp>
      <p:sp>
        <p:nvSpPr>
          <p:cNvPr id="379" name="Text 377"/>
          <p:cNvSpPr/>
          <p:nvPr/>
        </p:nvSpPr>
        <p:spPr>
          <a:xfrm>
            <a:off x="910590" y="33312736"/>
            <a:ext cx="344500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spc="81" kern="0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PARSED →</a:t>
            </a:r>
            <a:endParaRPr lang="en-US" sz="675" dirty="0"/>
          </a:p>
        </p:txBody>
      </p:sp>
      <p:sp>
        <p:nvSpPr>
          <p:cNvPr id="380" name="Shape 378"/>
          <p:cNvSpPr/>
          <p:nvPr/>
        </p:nvSpPr>
        <p:spPr>
          <a:xfrm>
            <a:off x="910590" y="33493711"/>
            <a:ext cx="936069" cy="274320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81" name="Text 379"/>
          <p:cNvSpPr/>
          <p:nvPr/>
        </p:nvSpPr>
        <p:spPr>
          <a:xfrm>
            <a:off x="1013460" y="33539431"/>
            <a:ext cx="806529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🎧 techno · DJ</a:t>
            </a:r>
            <a:endParaRPr lang="en-US" sz="1050" dirty="0"/>
          </a:p>
        </p:txBody>
      </p:sp>
      <p:sp>
        <p:nvSpPr>
          <p:cNvPr id="382" name="Shape 380"/>
          <p:cNvSpPr/>
          <p:nvPr/>
        </p:nvSpPr>
        <p:spPr>
          <a:xfrm>
            <a:off x="1903809" y="33493711"/>
            <a:ext cx="692825" cy="274320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83" name="Text 381"/>
          <p:cNvSpPr/>
          <p:nvPr/>
        </p:nvSpPr>
        <p:spPr>
          <a:xfrm>
            <a:off x="2006679" y="33539431"/>
            <a:ext cx="563285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📍 Berlin</a:t>
            </a:r>
            <a:endParaRPr lang="en-US" sz="1050" dirty="0"/>
          </a:p>
        </p:txBody>
      </p:sp>
      <p:sp>
        <p:nvSpPr>
          <p:cNvPr id="384" name="Shape 382"/>
          <p:cNvSpPr/>
          <p:nvPr/>
        </p:nvSpPr>
        <p:spPr>
          <a:xfrm>
            <a:off x="2653784" y="33493711"/>
            <a:ext cx="912138" cy="274320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85" name="Text 383"/>
          <p:cNvSpPr/>
          <p:nvPr/>
        </p:nvSpPr>
        <p:spPr>
          <a:xfrm>
            <a:off x="2756654" y="33539431"/>
            <a:ext cx="78259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📅 Oct 10–20</a:t>
            </a:r>
            <a:endParaRPr lang="en-US" sz="1050" dirty="0"/>
          </a:p>
        </p:txBody>
      </p:sp>
      <p:sp>
        <p:nvSpPr>
          <p:cNvPr id="386" name="Shape 384"/>
          <p:cNvSpPr/>
          <p:nvPr/>
        </p:nvSpPr>
        <p:spPr>
          <a:xfrm>
            <a:off x="910590" y="33825180"/>
            <a:ext cx="671870" cy="274320"/>
          </a:xfrm>
          <a:prstGeom prst="roundRect">
            <a:avLst>
              <a:gd name="adj" fmla="val 50000"/>
            </a:avLst>
          </a:prstGeom>
          <a:solidFill>
            <a:srgbClr val="F1ECE2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387" name="Text 385"/>
          <p:cNvSpPr/>
          <p:nvPr/>
        </p:nvSpPr>
        <p:spPr>
          <a:xfrm>
            <a:off x="1013460" y="33870900"/>
            <a:ext cx="54233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⏱ 90 min</a:t>
            </a:r>
            <a:endParaRPr lang="en-US" sz="1050" dirty="0"/>
          </a:p>
        </p:txBody>
      </p:sp>
      <p:sp>
        <p:nvSpPr>
          <p:cNvPr id="388" name="Shape 386"/>
          <p:cNvSpPr/>
          <p:nvPr/>
        </p:nvSpPr>
        <p:spPr>
          <a:xfrm>
            <a:off x="1639610" y="33825180"/>
            <a:ext cx="650558" cy="274320"/>
          </a:xfrm>
          <a:prstGeom prst="roundRect">
            <a:avLst>
              <a:gd name="adj" fmla="val 50000"/>
            </a:avLst>
          </a:prstGeom>
          <a:solidFill>
            <a:srgbClr val="FFF0E6"/>
          </a:solidFill>
          <a:ln w="7620">
            <a:solidFill>
              <a:srgbClr val="FFBA8C"/>
            </a:solidFill>
            <a:prstDash val="solid"/>
          </a:ln>
        </p:spPr>
      </p:sp>
      <p:sp>
        <p:nvSpPr>
          <p:cNvPr id="389" name="Text 387"/>
          <p:cNvSpPr/>
          <p:nvPr/>
        </p:nvSpPr>
        <p:spPr>
          <a:xfrm>
            <a:off x="1742480" y="33870900"/>
            <a:ext cx="521018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5460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💶 ~€8k</a:t>
            </a:r>
            <a:endParaRPr lang="en-US" sz="1050" dirty="0"/>
          </a:p>
        </p:txBody>
      </p:sp>
      <p:sp>
        <p:nvSpPr>
          <p:cNvPr id="390" name="Shape 388"/>
          <p:cNvSpPr/>
          <p:nvPr/>
        </p:nvSpPr>
        <p:spPr>
          <a:xfrm>
            <a:off x="910590" y="34223325"/>
            <a:ext cx="3131820" cy="40767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391" name="Text 389"/>
          <p:cNvSpPr/>
          <p:nvPr/>
        </p:nvSpPr>
        <p:spPr>
          <a:xfrm>
            <a:off x="968388" y="34328100"/>
            <a:ext cx="301622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Find the ones →</a:t>
            </a:r>
            <a:endParaRPr lang="en-US" sz="1275" dirty="0"/>
          </a:p>
        </p:txBody>
      </p:sp>
      <p:sp>
        <p:nvSpPr>
          <p:cNvPr id="392" name="Text 390"/>
          <p:cNvSpPr/>
          <p:nvPr/>
        </p:nvSpPr>
        <p:spPr>
          <a:xfrm>
            <a:off x="4591050" y="31765875"/>
            <a:ext cx="126146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 · Ranked matches</a:t>
            </a:r>
            <a:endParaRPr lang="en-US" sz="900" dirty="0"/>
          </a:p>
        </p:txBody>
      </p:sp>
      <p:sp>
        <p:nvSpPr>
          <p:cNvPr id="393" name="Shape 391"/>
          <p:cNvSpPr/>
          <p:nvPr/>
        </p:nvSpPr>
        <p:spPr>
          <a:xfrm>
            <a:off x="4572000" y="32004000"/>
            <a:ext cx="3429000" cy="2743200"/>
          </a:xfrm>
          <a:prstGeom prst="roundRect">
            <a:avLst>
              <a:gd name="adj" fmla="val 4861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394" name="Text 392"/>
          <p:cNvSpPr/>
          <p:nvPr/>
        </p:nvSpPr>
        <p:spPr>
          <a:xfrm>
            <a:off x="4720590" y="32152591"/>
            <a:ext cx="344500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4 available · sorted by fit</a:t>
            </a:r>
            <a:endParaRPr lang="en-US" sz="1125" dirty="0"/>
          </a:p>
        </p:txBody>
      </p:sp>
      <p:sp>
        <p:nvSpPr>
          <p:cNvPr id="395" name="Shape 393"/>
          <p:cNvSpPr/>
          <p:nvPr/>
        </p:nvSpPr>
        <p:spPr>
          <a:xfrm>
            <a:off x="4720590" y="32430720"/>
            <a:ext cx="3131820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7620">
            <a:solidFill>
              <a:srgbClr val="2B2A28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4823460" y="32539305"/>
            <a:ext cx="377190" cy="377190"/>
          </a:xfrm>
          <a:prstGeom prst="roundRect">
            <a:avLst>
              <a:gd name="adj" fmla="val 22727"/>
            </a:avLst>
          </a:prstGeom>
          <a:solidFill>
            <a:srgbClr val="ECE8DF"/>
          </a:solidFill>
          <a:ln w="7620">
            <a:solidFill>
              <a:srgbClr val="CFC8B8"/>
            </a:solidFill>
            <a:prstDash val="solid"/>
          </a:ln>
        </p:spPr>
      </p:sp>
      <p:sp>
        <p:nvSpPr>
          <p:cNvPr id="397" name="Text 395"/>
          <p:cNvSpPr/>
          <p:nvPr/>
        </p:nvSpPr>
        <p:spPr>
          <a:xfrm>
            <a:off x="5286375" y="32533591"/>
            <a:ext cx="242462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</a:t>
            </a:r>
            <a:endParaRPr lang="en-US" sz="1350" dirty="0"/>
          </a:p>
        </p:txBody>
      </p:sp>
      <p:sp>
        <p:nvSpPr>
          <p:cNvPr id="398" name="Text 396"/>
          <p:cNvSpPr/>
          <p:nvPr/>
        </p:nvSpPr>
        <p:spPr>
          <a:xfrm>
            <a:off x="5286375" y="32754570"/>
            <a:ext cx="242462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● open Oct 17 · in budget</a:t>
            </a:r>
            <a:endParaRPr lang="en-US" sz="900" dirty="0"/>
          </a:p>
        </p:txBody>
      </p:sp>
      <p:sp>
        <p:nvSpPr>
          <p:cNvPr id="399" name="Text 397"/>
          <p:cNvSpPr/>
          <p:nvPr/>
        </p:nvSpPr>
        <p:spPr>
          <a:xfrm>
            <a:off x="7538204" y="32552641"/>
            <a:ext cx="24943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96</a:t>
            </a:r>
            <a:endParaRPr lang="en-US" sz="1500" dirty="0"/>
          </a:p>
        </p:txBody>
      </p:sp>
      <p:sp>
        <p:nvSpPr>
          <p:cNvPr id="400" name="Text 398"/>
          <p:cNvSpPr/>
          <p:nvPr/>
        </p:nvSpPr>
        <p:spPr>
          <a:xfrm>
            <a:off x="7538204" y="32796480"/>
            <a:ext cx="249436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600" dirty="0"/>
          </a:p>
        </p:txBody>
      </p:sp>
      <p:sp>
        <p:nvSpPr>
          <p:cNvPr id="401" name="Text 399"/>
          <p:cNvSpPr/>
          <p:nvPr/>
        </p:nvSpPr>
        <p:spPr>
          <a:xfrm>
            <a:off x="4823460" y="32979361"/>
            <a:ext cx="3218688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↳ techno · Berlin-based · plays warehouses</a:t>
            </a:r>
            <a:endParaRPr lang="en-US" sz="975" dirty="0"/>
          </a:p>
        </p:txBody>
      </p:sp>
      <p:sp>
        <p:nvSpPr>
          <p:cNvPr id="402" name="Shape 400"/>
          <p:cNvSpPr/>
          <p:nvPr/>
        </p:nvSpPr>
        <p:spPr>
          <a:xfrm>
            <a:off x="4720590" y="33335595"/>
            <a:ext cx="3131820" cy="594360"/>
          </a:xfrm>
          <a:prstGeom prst="roundRect">
            <a:avLst>
              <a:gd name="adj" fmla="val 16026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4823460" y="33444180"/>
            <a:ext cx="377190" cy="377190"/>
          </a:xfrm>
          <a:prstGeom prst="roundRect">
            <a:avLst>
              <a:gd name="adj" fmla="val 22727"/>
            </a:avLst>
          </a:prstGeom>
          <a:solidFill>
            <a:srgbClr val="ECE8DF"/>
          </a:solidFill>
          <a:ln w="7620">
            <a:solidFill>
              <a:srgbClr val="CFC8B8"/>
            </a:solidFill>
            <a:prstDash val="solid"/>
          </a:ln>
        </p:spPr>
      </p:sp>
      <p:sp>
        <p:nvSpPr>
          <p:cNvPr id="404" name="Text 402"/>
          <p:cNvSpPr/>
          <p:nvPr/>
        </p:nvSpPr>
        <p:spPr>
          <a:xfrm>
            <a:off x="5286375" y="33438466"/>
            <a:ext cx="2426589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ODE</a:t>
            </a:r>
            <a:endParaRPr lang="en-US" sz="1350" dirty="0"/>
          </a:p>
        </p:txBody>
      </p:sp>
      <p:sp>
        <p:nvSpPr>
          <p:cNvPr id="405" name="Text 403"/>
          <p:cNvSpPr/>
          <p:nvPr/>
        </p:nvSpPr>
        <p:spPr>
          <a:xfrm>
            <a:off x="5286375" y="33659445"/>
            <a:ext cx="2426589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47A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● hold Oct 16 · slightly over</a:t>
            </a:r>
            <a:endParaRPr lang="en-US" sz="900" dirty="0"/>
          </a:p>
        </p:txBody>
      </p:sp>
      <p:sp>
        <p:nvSpPr>
          <p:cNvPr id="406" name="Text 404"/>
          <p:cNvSpPr/>
          <p:nvPr/>
        </p:nvSpPr>
        <p:spPr>
          <a:xfrm>
            <a:off x="7539990" y="33457516"/>
            <a:ext cx="247650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88</a:t>
            </a:r>
            <a:endParaRPr lang="en-US" sz="1500" dirty="0"/>
          </a:p>
        </p:txBody>
      </p:sp>
      <p:sp>
        <p:nvSpPr>
          <p:cNvPr id="407" name="Text 405"/>
          <p:cNvSpPr/>
          <p:nvPr/>
        </p:nvSpPr>
        <p:spPr>
          <a:xfrm>
            <a:off x="7539990" y="33701355"/>
            <a:ext cx="247650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600" dirty="0"/>
          </a:p>
        </p:txBody>
      </p:sp>
      <p:sp>
        <p:nvSpPr>
          <p:cNvPr id="408" name="Shape 406"/>
          <p:cNvSpPr/>
          <p:nvPr/>
        </p:nvSpPr>
        <p:spPr>
          <a:xfrm>
            <a:off x="4720590" y="34015680"/>
            <a:ext cx="3131820" cy="582930"/>
          </a:xfrm>
          <a:prstGeom prst="roundRect">
            <a:avLst>
              <a:gd name="adj" fmla="val 16340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409" name="Shape 407"/>
          <p:cNvSpPr/>
          <p:nvPr/>
        </p:nvSpPr>
        <p:spPr>
          <a:xfrm>
            <a:off x="4823460" y="34118550"/>
            <a:ext cx="377190" cy="377190"/>
          </a:xfrm>
          <a:prstGeom prst="roundRect">
            <a:avLst>
              <a:gd name="adj" fmla="val 22727"/>
            </a:avLst>
          </a:prstGeom>
          <a:solidFill>
            <a:srgbClr val="ECE8DF"/>
          </a:solidFill>
          <a:ln w="7620">
            <a:solidFill>
              <a:srgbClr val="CFC8B8"/>
            </a:solidFill>
            <a:prstDash val="solid"/>
          </a:ln>
        </p:spPr>
      </p:sp>
      <p:sp>
        <p:nvSpPr>
          <p:cNvPr id="410" name="Text 408"/>
          <p:cNvSpPr/>
          <p:nvPr/>
        </p:nvSpPr>
        <p:spPr>
          <a:xfrm>
            <a:off x="5286375" y="34124266"/>
            <a:ext cx="2427375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LUNA</a:t>
            </a:r>
            <a:endParaRPr lang="en-US" sz="1350" dirty="0"/>
          </a:p>
        </p:txBody>
      </p:sp>
      <p:sp>
        <p:nvSpPr>
          <p:cNvPr id="411" name="Text 409"/>
          <p:cNvSpPr/>
          <p:nvPr/>
        </p:nvSpPr>
        <p:spPr>
          <a:xfrm>
            <a:off x="5286375" y="34345245"/>
            <a:ext cx="2427375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avant-pop · adjacent</a:t>
            </a:r>
            <a:endParaRPr lang="en-US" sz="900" dirty="0"/>
          </a:p>
        </p:txBody>
      </p:sp>
      <p:sp>
        <p:nvSpPr>
          <p:cNvPr id="412" name="Text 410"/>
          <p:cNvSpPr/>
          <p:nvPr/>
        </p:nvSpPr>
        <p:spPr>
          <a:xfrm>
            <a:off x="7540704" y="34131886"/>
            <a:ext cx="246936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74</a:t>
            </a:r>
            <a:endParaRPr lang="en-US" sz="1500" dirty="0"/>
          </a:p>
        </p:txBody>
      </p:sp>
      <p:sp>
        <p:nvSpPr>
          <p:cNvPr id="413" name="Text 411"/>
          <p:cNvSpPr/>
          <p:nvPr/>
        </p:nvSpPr>
        <p:spPr>
          <a:xfrm>
            <a:off x="7540704" y="34375725"/>
            <a:ext cx="246936" cy="14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9A91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</a:t>
            </a:r>
            <a:endParaRPr lang="en-US" sz="600" dirty="0"/>
          </a:p>
        </p:txBody>
      </p:sp>
      <p:sp>
        <p:nvSpPr>
          <p:cNvPr id="414" name="Text 412"/>
          <p:cNvSpPr/>
          <p:nvPr/>
        </p:nvSpPr>
        <p:spPr>
          <a:xfrm>
            <a:off x="8401050" y="31765875"/>
            <a:ext cx="185923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E3 · The offer object (shared)</a:t>
            </a:r>
            <a:endParaRPr lang="en-US" sz="900" dirty="0"/>
          </a:p>
        </p:txBody>
      </p:sp>
      <p:sp>
        <p:nvSpPr>
          <p:cNvPr id="415" name="Shape 413"/>
          <p:cNvSpPr/>
          <p:nvPr/>
        </p:nvSpPr>
        <p:spPr>
          <a:xfrm>
            <a:off x="8382000" y="32004000"/>
            <a:ext cx="3429000" cy="3489960"/>
          </a:xfrm>
          <a:prstGeom prst="roundRect">
            <a:avLst>
              <a:gd name="adj" fmla="val 3889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416" name="Text 414"/>
          <p:cNvSpPr/>
          <p:nvPr/>
        </p:nvSpPr>
        <p:spPr>
          <a:xfrm>
            <a:off x="8530590" y="32152591"/>
            <a:ext cx="1082278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Offer · KAIRO</a:t>
            </a:r>
            <a:endParaRPr lang="en-US" sz="1650" dirty="0"/>
          </a:p>
        </p:txBody>
      </p:sp>
      <p:sp>
        <p:nvSpPr>
          <p:cNvPr id="417" name="Text 415"/>
          <p:cNvSpPr/>
          <p:nvPr/>
        </p:nvSpPr>
        <p:spPr>
          <a:xfrm>
            <a:off x="11318320" y="32221170"/>
            <a:ext cx="420291" cy="160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60" kern="0" dirty="0">
                <a:solidFill>
                  <a:srgbClr val="C4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750" dirty="0"/>
          </a:p>
        </p:txBody>
      </p:sp>
      <p:sp>
        <p:nvSpPr>
          <p:cNvPr id="418" name="Shape 416"/>
          <p:cNvSpPr/>
          <p:nvPr/>
        </p:nvSpPr>
        <p:spPr>
          <a:xfrm>
            <a:off x="8530590" y="32516445"/>
            <a:ext cx="3131820" cy="1878330"/>
          </a:xfrm>
          <a:prstGeom prst="roundRect">
            <a:avLst>
              <a:gd name="adj" fmla="val 4564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419" name="Shape 417"/>
          <p:cNvSpPr/>
          <p:nvPr/>
        </p:nvSpPr>
        <p:spPr>
          <a:xfrm>
            <a:off x="8538210" y="32886016"/>
            <a:ext cx="3116580" cy="9525"/>
          </a:xfrm>
          <a:prstGeom prst="rect">
            <a:avLst/>
          </a:prstGeom>
          <a:solidFill>
            <a:srgbClr val="EDE7DA"/>
          </a:solidFill>
          <a:ln/>
        </p:spPr>
      </p:sp>
      <p:sp>
        <p:nvSpPr>
          <p:cNvPr id="420" name="Text 418"/>
          <p:cNvSpPr/>
          <p:nvPr/>
        </p:nvSpPr>
        <p:spPr>
          <a:xfrm>
            <a:off x="8642985" y="32609791"/>
            <a:ext cx="3323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Date</a:t>
            </a:r>
            <a:endParaRPr lang="en-US" sz="1200" dirty="0"/>
          </a:p>
        </p:txBody>
      </p:sp>
      <p:sp>
        <p:nvSpPr>
          <p:cNvPr id="421" name="Text 419"/>
          <p:cNvSpPr/>
          <p:nvPr/>
        </p:nvSpPr>
        <p:spPr>
          <a:xfrm>
            <a:off x="11001732" y="32609791"/>
            <a:ext cx="62448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Fri 17 Oct</a:t>
            </a:r>
            <a:endParaRPr lang="en-US" sz="1200" dirty="0"/>
          </a:p>
        </p:txBody>
      </p:sp>
      <p:sp>
        <p:nvSpPr>
          <p:cNvPr id="422" name="Shape 420"/>
          <p:cNvSpPr/>
          <p:nvPr/>
        </p:nvSpPr>
        <p:spPr>
          <a:xfrm>
            <a:off x="8538210" y="33255586"/>
            <a:ext cx="3116580" cy="9525"/>
          </a:xfrm>
          <a:prstGeom prst="rect">
            <a:avLst/>
          </a:prstGeom>
          <a:solidFill>
            <a:srgbClr val="EDE7DA"/>
          </a:solidFill>
          <a:ln/>
        </p:spPr>
      </p:sp>
      <p:sp>
        <p:nvSpPr>
          <p:cNvPr id="423" name="Text 421"/>
          <p:cNvSpPr/>
          <p:nvPr/>
        </p:nvSpPr>
        <p:spPr>
          <a:xfrm>
            <a:off x="8642985" y="32979361"/>
            <a:ext cx="2481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Set</a:t>
            </a:r>
            <a:endParaRPr lang="en-US" sz="1200" dirty="0"/>
          </a:p>
        </p:txBody>
      </p:sp>
      <p:sp>
        <p:nvSpPr>
          <p:cNvPr id="424" name="Text 422"/>
          <p:cNvSpPr/>
          <p:nvPr/>
        </p:nvSpPr>
        <p:spPr>
          <a:xfrm>
            <a:off x="10729913" y="32979361"/>
            <a:ext cx="89630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90 min headline</a:t>
            </a:r>
            <a:endParaRPr lang="en-US" sz="1200" dirty="0"/>
          </a:p>
        </p:txBody>
      </p:sp>
      <p:sp>
        <p:nvSpPr>
          <p:cNvPr id="425" name="Shape 423"/>
          <p:cNvSpPr/>
          <p:nvPr/>
        </p:nvSpPr>
        <p:spPr>
          <a:xfrm>
            <a:off x="8538210" y="33648015"/>
            <a:ext cx="3116580" cy="9525"/>
          </a:xfrm>
          <a:prstGeom prst="rect">
            <a:avLst/>
          </a:prstGeom>
          <a:solidFill>
            <a:srgbClr val="EDE7DA"/>
          </a:solidFill>
          <a:ln/>
        </p:spPr>
      </p:sp>
      <p:sp>
        <p:nvSpPr>
          <p:cNvPr id="426" name="Text 424"/>
          <p:cNvSpPr/>
          <p:nvPr/>
        </p:nvSpPr>
        <p:spPr>
          <a:xfrm>
            <a:off x="8642985" y="33348930"/>
            <a:ext cx="24372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Fee</a:t>
            </a:r>
            <a:endParaRPr lang="en-US" sz="1200" dirty="0"/>
          </a:p>
        </p:txBody>
      </p:sp>
      <p:sp>
        <p:nvSpPr>
          <p:cNvPr id="427" name="Shape 425"/>
          <p:cNvSpPr/>
          <p:nvPr/>
        </p:nvSpPr>
        <p:spPr>
          <a:xfrm>
            <a:off x="10892314" y="33348930"/>
            <a:ext cx="657701" cy="213360"/>
          </a:xfrm>
          <a:prstGeom prst="roundRect">
            <a:avLst>
              <a:gd name="adj" fmla="val 17857"/>
            </a:avLst>
          </a:prstGeom>
          <a:solidFill>
            <a:srgbClr val="FFF0E6"/>
          </a:solidFill>
          <a:ln/>
        </p:spPr>
      </p:sp>
      <p:sp>
        <p:nvSpPr>
          <p:cNvPr id="428" name="Text 426"/>
          <p:cNvSpPr/>
          <p:nvPr/>
        </p:nvSpPr>
        <p:spPr>
          <a:xfrm>
            <a:off x="10939939" y="33348930"/>
            <a:ext cx="628221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5460A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€8,000 ✎</a:t>
            </a:r>
            <a:endParaRPr lang="en-US" sz="1200" dirty="0"/>
          </a:p>
        </p:txBody>
      </p:sp>
      <p:sp>
        <p:nvSpPr>
          <p:cNvPr id="429" name="Shape 427"/>
          <p:cNvSpPr/>
          <p:nvPr/>
        </p:nvSpPr>
        <p:spPr>
          <a:xfrm>
            <a:off x="8538210" y="34017586"/>
            <a:ext cx="3116580" cy="9525"/>
          </a:xfrm>
          <a:prstGeom prst="rect">
            <a:avLst/>
          </a:prstGeom>
          <a:solidFill>
            <a:srgbClr val="EDE7DA"/>
          </a:solidFill>
          <a:ln/>
        </p:spPr>
      </p:sp>
      <p:sp>
        <p:nvSpPr>
          <p:cNvPr id="430" name="Text 428"/>
          <p:cNvSpPr/>
          <p:nvPr/>
        </p:nvSpPr>
        <p:spPr>
          <a:xfrm>
            <a:off x="8642985" y="33741361"/>
            <a:ext cx="38171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Travel</a:t>
            </a:r>
            <a:endParaRPr lang="en-US" sz="1200" dirty="0"/>
          </a:p>
        </p:txBody>
      </p:sp>
      <p:sp>
        <p:nvSpPr>
          <p:cNvPr id="431" name="Text 429"/>
          <p:cNvSpPr/>
          <p:nvPr/>
        </p:nvSpPr>
        <p:spPr>
          <a:xfrm>
            <a:off x="11170920" y="33741361"/>
            <a:ext cx="45529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covered</a:t>
            </a:r>
            <a:endParaRPr lang="en-US" sz="1200" dirty="0"/>
          </a:p>
        </p:txBody>
      </p:sp>
      <p:sp>
        <p:nvSpPr>
          <p:cNvPr id="432" name="Text 430"/>
          <p:cNvSpPr/>
          <p:nvPr/>
        </p:nvSpPr>
        <p:spPr>
          <a:xfrm>
            <a:off x="8642985" y="34110930"/>
            <a:ext cx="51970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Payment</a:t>
            </a:r>
            <a:endParaRPr lang="en-US" sz="1200" dirty="0"/>
          </a:p>
        </p:txBody>
      </p:sp>
      <p:sp>
        <p:nvSpPr>
          <p:cNvPr id="433" name="Text 431"/>
          <p:cNvSpPr/>
          <p:nvPr/>
        </p:nvSpPr>
        <p:spPr>
          <a:xfrm>
            <a:off x="10698242" y="34110930"/>
            <a:ext cx="92797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50% escrow now</a:t>
            </a:r>
            <a:endParaRPr lang="en-US" sz="1200" dirty="0"/>
          </a:p>
        </p:txBody>
      </p:sp>
      <p:sp>
        <p:nvSpPr>
          <p:cNvPr id="434" name="Text 432"/>
          <p:cNvSpPr/>
          <p:nvPr/>
        </p:nvSpPr>
        <p:spPr>
          <a:xfrm>
            <a:off x="8530590" y="34509075"/>
            <a:ext cx="32257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One object. Either side edits a field → it version-bumps. No new email thread, ever.</a:t>
            </a:r>
            <a:endParaRPr lang="en-US" sz="1050" dirty="0"/>
          </a:p>
        </p:txBody>
      </p:sp>
      <p:sp>
        <p:nvSpPr>
          <p:cNvPr id="435" name="Shape 433"/>
          <p:cNvSpPr/>
          <p:nvPr/>
        </p:nvSpPr>
        <p:spPr>
          <a:xfrm>
            <a:off x="8530590" y="34949130"/>
            <a:ext cx="2533412" cy="39624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436" name="Text 434"/>
          <p:cNvSpPr/>
          <p:nvPr/>
        </p:nvSpPr>
        <p:spPr>
          <a:xfrm>
            <a:off x="8587740" y="35044380"/>
            <a:ext cx="2419112" cy="24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Send offer →</a:t>
            </a:r>
            <a:endParaRPr lang="en-US" sz="1200" dirty="0"/>
          </a:p>
        </p:txBody>
      </p:sp>
      <p:sp>
        <p:nvSpPr>
          <p:cNvPr id="437" name="Shape 435"/>
          <p:cNvSpPr/>
          <p:nvPr/>
        </p:nvSpPr>
        <p:spPr>
          <a:xfrm>
            <a:off x="11140203" y="34949130"/>
            <a:ext cx="522208" cy="396240"/>
          </a:xfrm>
          <a:prstGeom prst="ellipse">
            <a:avLst/>
          </a:prstGeom>
          <a:ln w="7620">
            <a:solidFill>
              <a:srgbClr val="2B2A28"/>
            </a:solidFill>
            <a:prstDash val="solid"/>
          </a:ln>
        </p:spPr>
      </p:sp>
      <p:sp>
        <p:nvSpPr>
          <p:cNvPr id="438" name="Text 436"/>
          <p:cNvSpPr/>
          <p:nvPr/>
        </p:nvSpPr>
        <p:spPr>
          <a:xfrm>
            <a:off x="11281173" y="35052000"/>
            <a:ext cx="3164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Save</a:t>
            </a:r>
            <a:endParaRPr lang="en-US" sz="1200" dirty="0"/>
          </a:p>
        </p:txBody>
      </p:sp>
      <p:sp>
        <p:nvSpPr>
          <p:cNvPr id="439" name="Text 437"/>
          <p:cNvSpPr/>
          <p:nvPr/>
        </p:nvSpPr>
        <p:spPr>
          <a:xfrm>
            <a:off x="762000" y="38290500"/>
            <a:ext cx="3763780" cy="39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1916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 · Front door — landing variants</a:t>
            </a:r>
            <a:endParaRPr lang="en-US" sz="2250" dirty="0"/>
          </a:p>
        </p:txBody>
      </p:sp>
      <p:sp>
        <p:nvSpPr>
          <p:cNvPr id="440" name="Text 438"/>
          <p:cNvSpPr/>
          <p:nvPr/>
        </p:nvSpPr>
        <p:spPr>
          <a:xfrm>
            <a:off x="762000" y="38690550"/>
            <a:ext cx="6475095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A6253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 homepage carries the brand voice (“book the rawest”) but also has to route two very different people. Three takes on the entry moment.</a:t>
            </a:r>
            <a:endParaRPr lang="en-US" sz="1350" dirty="0"/>
          </a:p>
        </p:txBody>
      </p:sp>
      <p:sp>
        <p:nvSpPr>
          <p:cNvPr id="441" name="Text 439"/>
          <p:cNvSpPr/>
          <p:nvPr/>
        </p:nvSpPr>
        <p:spPr>
          <a:xfrm>
            <a:off x="781050" y="39290625"/>
            <a:ext cx="22482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· Search-first (today, sharpened)</a:t>
            </a:r>
            <a:endParaRPr lang="en-US" sz="900" dirty="0"/>
          </a:p>
        </p:txBody>
      </p:sp>
      <p:sp>
        <p:nvSpPr>
          <p:cNvPr id="442" name="Shape 440"/>
          <p:cNvSpPr/>
          <p:nvPr/>
        </p:nvSpPr>
        <p:spPr>
          <a:xfrm>
            <a:off x="762000" y="39528750"/>
            <a:ext cx="3429000" cy="2630805"/>
          </a:xfrm>
          <a:prstGeom prst="roundRect">
            <a:avLst>
              <a:gd name="adj" fmla="val 5069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443" name="Text 441"/>
          <p:cNvSpPr/>
          <p:nvPr/>
        </p:nvSpPr>
        <p:spPr>
          <a:xfrm>
            <a:off x="910590" y="39677341"/>
            <a:ext cx="8695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B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SHOWMAN</a:t>
            </a:r>
            <a:endParaRPr lang="en-US" sz="900" dirty="0"/>
          </a:p>
        </p:txBody>
      </p:sp>
      <p:sp>
        <p:nvSpPr>
          <p:cNvPr id="444" name="Text 442"/>
          <p:cNvSpPr/>
          <p:nvPr/>
        </p:nvSpPr>
        <p:spPr>
          <a:xfrm>
            <a:off x="2901434" y="39677341"/>
            <a:ext cx="121717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57C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Artists · Bookers · Join</a:t>
            </a:r>
            <a:endParaRPr lang="en-US" sz="900" dirty="0"/>
          </a:p>
        </p:txBody>
      </p:sp>
      <p:sp>
        <p:nvSpPr>
          <p:cNvPr id="445" name="Text 443"/>
          <p:cNvSpPr/>
          <p:nvPr/>
        </p:nvSpPr>
        <p:spPr>
          <a:xfrm>
            <a:off x="863613" y="40153591"/>
            <a:ext cx="3225775" cy="739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Book the </a:t>
            </a:r>
            <a:pPr algn="ctr" indent="0" marL="0">
              <a:lnSpc>
                <a:spcPct val="92000"/>
              </a:lnSpc>
              <a:buNone/>
            </a:pPr>
            <a:r>
              <a:rPr lang="en-US" sz="3000" b="1" i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rawest </a:t>
            </a:r>
            <a:pPr algn="ctr" indent="0" marL="0">
              <a:lnSpc>
                <a:spcPct val="92000"/>
              </a:lnSpc>
              <a:buNone/>
            </a:pPr>
            <a:r>
              <a:rPr lang="en-US" sz="30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artists.</a:t>
            </a:r>
            <a:endParaRPr lang="en-US" sz="3000" dirty="0"/>
          </a:p>
        </p:txBody>
      </p:sp>
      <p:sp>
        <p:nvSpPr>
          <p:cNvPr id="446" name="Text 444"/>
          <p:cNvSpPr/>
          <p:nvPr/>
        </p:nvSpPr>
        <p:spPr>
          <a:xfrm>
            <a:off x="753999" y="40892732"/>
            <a:ext cx="3445002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Direct access. No middleman.</a:t>
            </a:r>
            <a:endParaRPr lang="en-US" sz="1125" dirty="0"/>
          </a:p>
        </p:txBody>
      </p:sp>
      <p:sp>
        <p:nvSpPr>
          <p:cNvPr id="447" name="Shape 445"/>
          <p:cNvSpPr/>
          <p:nvPr/>
        </p:nvSpPr>
        <p:spPr>
          <a:xfrm>
            <a:off x="910590" y="41247059"/>
            <a:ext cx="3131820" cy="44577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2B2A28"/>
            </a:solidFill>
            <a:prstDash val="solid"/>
          </a:ln>
        </p:spPr>
      </p:sp>
      <p:sp>
        <p:nvSpPr>
          <p:cNvPr id="448" name="Text 446"/>
          <p:cNvSpPr/>
          <p:nvPr/>
        </p:nvSpPr>
        <p:spPr>
          <a:xfrm>
            <a:off x="1059180" y="41378507"/>
            <a:ext cx="2461820" cy="22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name · genre · city…</a:t>
            </a:r>
            <a:endParaRPr lang="en-US" sz="1125" dirty="0"/>
          </a:p>
        </p:txBody>
      </p:sp>
      <p:sp>
        <p:nvSpPr>
          <p:cNvPr id="449" name="Shape 447"/>
          <p:cNvSpPr/>
          <p:nvPr/>
        </p:nvSpPr>
        <p:spPr>
          <a:xfrm>
            <a:off x="3363873" y="41319450"/>
            <a:ext cx="606147" cy="30099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450" name="Text 448"/>
          <p:cNvSpPr/>
          <p:nvPr/>
        </p:nvSpPr>
        <p:spPr>
          <a:xfrm>
            <a:off x="3506748" y="41386125"/>
            <a:ext cx="396597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Search</a:t>
            </a:r>
            <a:endParaRPr lang="en-US" sz="1050" dirty="0"/>
          </a:p>
        </p:txBody>
      </p:sp>
      <p:sp>
        <p:nvSpPr>
          <p:cNvPr id="451" name="Shape 449"/>
          <p:cNvSpPr/>
          <p:nvPr/>
        </p:nvSpPr>
        <p:spPr>
          <a:xfrm>
            <a:off x="1764149" y="41778557"/>
            <a:ext cx="297656" cy="232410"/>
          </a:xfrm>
          <a:prstGeom prst="ellipse">
            <a:avLst/>
          </a:prstGeom>
          <a:ln w="7620">
            <a:solidFill>
              <a:srgbClr val="DDD5C5"/>
            </a:solidFill>
            <a:prstDash val="solid"/>
          </a:ln>
        </p:spPr>
      </p:sp>
      <p:sp>
        <p:nvSpPr>
          <p:cNvPr id="452" name="Text 450"/>
          <p:cNvSpPr/>
          <p:nvPr/>
        </p:nvSpPr>
        <p:spPr>
          <a:xfrm>
            <a:off x="1857494" y="41814752"/>
            <a:ext cx="18716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DJ</a:t>
            </a:r>
            <a:endParaRPr lang="en-US" sz="975" dirty="0"/>
          </a:p>
        </p:txBody>
      </p:sp>
      <p:sp>
        <p:nvSpPr>
          <p:cNvPr id="453" name="Shape 451"/>
          <p:cNvSpPr/>
          <p:nvPr/>
        </p:nvSpPr>
        <p:spPr>
          <a:xfrm>
            <a:off x="2118955" y="41778557"/>
            <a:ext cx="464701" cy="232410"/>
          </a:xfrm>
          <a:prstGeom prst="roundRect">
            <a:avLst>
              <a:gd name="adj" fmla="val 50000"/>
            </a:avLst>
          </a:prstGeom>
          <a:ln w="7620">
            <a:solidFill>
              <a:srgbClr val="DDD5C5"/>
            </a:solidFill>
            <a:prstDash val="solid"/>
          </a:ln>
        </p:spPr>
      </p:sp>
      <p:sp>
        <p:nvSpPr>
          <p:cNvPr id="454" name="Text 452"/>
          <p:cNvSpPr/>
          <p:nvPr/>
        </p:nvSpPr>
        <p:spPr>
          <a:xfrm>
            <a:off x="2212300" y="41814752"/>
            <a:ext cx="354211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rapper</a:t>
            </a:r>
            <a:endParaRPr lang="en-US" sz="975" dirty="0"/>
          </a:p>
        </p:txBody>
      </p:sp>
      <p:sp>
        <p:nvSpPr>
          <p:cNvPr id="455" name="Shape 453"/>
          <p:cNvSpPr/>
          <p:nvPr/>
        </p:nvSpPr>
        <p:spPr>
          <a:xfrm>
            <a:off x="2640806" y="41778557"/>
            <a:ext cx="548045" cy="232410"/>
          </a:xfrm>
          <a:prstGeom prst="roundRect">
            <a:avLst>
              <a:gd name="adj" fmla="val 50000"/>
            </a:avLst>
          </a:prstGeom>
          <a:ln w="7620">
            <a:solidFill>
              <a:srgbClr val="DDD5C5"/>
            </a:solidFill>
            <a:prstDash val="solid"/>
          </a:ln>
        </p:spPr>
      </p:sp>
      <p:sp>
        <p:nvSpPr>
          <p:cNvPr id="456" name="Text 454"/>
          <p:cNvSpPr/>
          <p:nvPr/>
        </p:nvSpPr>
        <p:spPr>
          <a:xfrm>
            <a:off x="2734151" y="41814752"/>
            <a:ext cx="437555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producer</a:t>
            </a:r>
            <a:endParaRPr lang="en-US" sz="975" dirty="0"/>
          </a:p>
        </p:txBody>
      </p:sp>
      <p:sp>
        <p:nvSpPr>
          <p:cNvPr id="457" name="Text 455"/>
          <p:cNvSpPr/>
          <p:nvPr/>
        </p:nvSpPr>
        <p:spPr>
          <a:xfrm>
            <a:off x="4591050" y="39290625"/>
            <a:ext cx="22812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 · Live scene (proof / momentum)</a:t>
            </a:r>
            <a:endParaRPr lang="en-US" sz="900" dirty="0"/>
          </a:p>
        </p:txBody>
      </p:sp>
      <p:sp>
        <p:nvSpPr>
          <p:cNvPr id="458" name="Shape 456"/>
          <p:cNvSpPr/>
          <p:nvPr/>
        </p:nvSpPr>
        <p:spPr>
          <a:xfrm>
            <a:off x="4572000" y="39528750"/>
            <a:ext cx="3429000" cy="2662238"/>
          </a:xfrm>
          <a:prstGeom prst="roundRect">
            <a:avLst>
              <a:gd name="adj" fmla="val 5009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459" name="Text 457"/>
          <p:cNvSpPr/>
          <p:nvPr/>
        </p:nvSpPr>
        <p:spPr>
          <a:xfrm>
            <a:off x="4720590" y="39686866"/>
            <a:ext cx="86951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80" kern="0" dirty="0">
                <a:solidFill>
                  <a:srgbClr val="1B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SHOWMAN</a:t>
            </a:r>
            <a:endParaRPr lang="en-US" sz="900" dirty="0"/>
          </a:p>
        </p:txBody>
      </p:sp>
      <p:sp>
        <p:nvSpPr>
          <p:cNvPr id="460" name="Shape 458"/>
          <p:cNvSpPr/>
          <p:nvPr/>
        </p:nvSpPr>
        <p:spPr>
          <a:xfrm>
            <a:off x="7431643" y="39677341"/>
            <a:ext cx="420767" cy="171450"/>
          </a:xfrm>
          <a:prstGeom prst="roundRect">
            <a:avLst>
              <a:gd name="adj" fmla="val 50000"/>
            </a:avLst>
          </a:prstGeom>
          <a:solidFill>
            <a:srgbClr val="1F8A5B"/>
          </a:solidFill>
          <a:ln/>
        </p:spPr>
      </p:sp>
      <p:sp>
        <p:nvSpPr>
          <p:cNvPr id="461" name="Text 459"/>
          <p:cNvSpPr/>
          <p:nvPr/>
        </p:nvSpPr>
        <p:spPr>
          <a:xfrm>
            <a:off x="7517368" y="39705916"/>
            <a:ext cx="32551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</a:t>
            </a:r>
            <a:endParaRPr lang="en-US" sz="675" dirty="0"/>
          </a:p>
        </p:txBody>
      </p:sp>
      <p:sp>
        <p:nvSpPr>
          <p:cNvPr id="462" name="Text 460"/>
          <p:cNvSpPr/>
          <p:nvPr/>
        </p:nvSpPr>
        <p:spPr>
          <a:xfrm>
            <a:off x="4720590" y="39982141"/>
            <a:ext cx="344500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2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The scene is </a:t>
            </a:r>
            <a:pPr algn="l" indent="0" marL="0">
              <a:lnSpc>
                <a:spcPct val="95000"/>
              </a:lnSpc>
              <a:buNone/>
            </a:pPr>
            <a:r>
              <a:rPr lang="en-US" sz="2250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booking </a:t>
            </a:r>
            <a:pPr algn="l" indent="0" marL="0">
              <a:lnSpc>
                <a:spcPct val="95000"/>
              </a:lnSpc>
              <a:buNone/>
            </a:pPr>
            <a:r>
              <a:rPr lang="en-US" sz="22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right now.</a:t>
            </a:r>
            <a:endParaRPr lang="en-US" sz="2250" dirty="0"/>
          </a:p>
        </p:txBody>
      </p:sp>
      <p:sp>
        <p:nvSpPr>
          <p:cNvPr id="463" name="Shape 461"/>
          <p:cNvSpPr/>
          <p:nvPr/>
        </p:nvSpPr>
        <p:spPr>
          <a:xfrm>
            <a:off x="4720590" y="40358378"/>
            <a:ext cx="3131820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464" name="Text 462"/>
          <p:cNvSpPr/>
          <p:nvPr/>
        </p:nvSpPr>
        <p:spPr>
          <a:xfrm>
            <a:off x="4823460" y="40442197"/>
            <a:ext cx="19812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▸</a:t>
            </a:r>
            <a:endParaRPr lang="en-US" sz="1050" dirty="0"/>
          </a:p>
        </p:txBody>
      </p:sp>
      <p:sp>
        <p:nvSpPr>
          <p:cNvPr id="465" name="Text 463"/>
          <p:cNvSpPr/>
          <p:nvPr/>
        </p:nvSpPr>
        <p:spPr>
          <a:xfrm>
            <a:off x="5021580" y="40442197"/>
            <a:ext cx="1240750" cy="20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KAIRO confirmed Sónar ·</a:t>
            </a:r>
            <a:endParaRPr lang="en-US" sz="1050" dirty="0"/>
          </a:p>
        </p:txBody>
      </p:sp>
      <p:sp>
        <p:nvSpPr>
          <p:cNvPr id="466" name="Text 464"/>
          <p:cNvSpPr/>
          <p:nvPr/>
        </p:nvSpPr>
        <p:spPr>
          <a:xfrm>
            <a:off x="6262331" y="40442197"/>
            <a:ext cx="39909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2m ago</a:t>
            </a:r>
            <a:endParaRPr lang="en-US" sz="1050" dirty="0"/>
          </a:p>
        </p:txBody>
      </p:sp>
      <p:sp>
        <p:nvSpPr>
          <p:cNvPr id="467" name="Shape 465"/>
          <p:cNvSpPr/>
          <p:nvPr/>
        </p:nvSpPr>
        <p:spPr>
          <a:xfrm>
            <a:off x="4720590" y="40758428"/>
            <a:ext cx="3131820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468" name="Text 466"/>
          <p:cNvSpPr/>
          <p:nvPr/>
        </p:nvSpPr>
        <p:spPr>
          <a:xfrm>
            <a:off x="4823460" y="40842247"/>
            <a:ext cx="19812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▸</a:t>
            </a:r>
            <a:endParaRPr lang="en-US" sz="1050" dirty="0"/>
          </a:p>
        </p:txBody>
      </p:sp>
      <p:sp>
        <p:nvSpPr>
          <p:cNvPr id="469" name="Text 467"/>
          <p:cNvSpPr/>
          <p:nvPr/>
        </p:nvSpPr>
        <p:spPr>
          <a:xfrm>
            <a:off x="5021580" y="40842247"/>
            <a:ext cx="1371481" cy="20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SOBA → Berlin warehouse ·</a:t>
            </a:r>
            <a:endParaRPr lang="en-US" sz="1050" dirty="0"/>
          </a:p>
        </p:txBody>
      </p:sp>
      <p:sp>
        <p:nvSpPr>
          <p:cNvPr id="470" name="Text 468"/>
          <p:cNvSpPr/>
          <p:nvPr/>
        </p:nvSpPr>
        <p:spPr>
          <a:xfrm>
            <a:off x="6393061" y="40842247"/>
            <a:ext cx="27170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11m</a:t>
            </a:r>
            <a:endParaRPr lang="en-US" sz="1050" dirty="0"/>
          </a:p>
        </p:txBody>
      </p:sp>
      <p:sp>
        <p:nvSpPr>
          <p:cNvPr id="471" name="Shape 469"/>
          <p:cNvSpPr/>
          <p:nvPr/>
        </p:nvSpPr>
        <p:spPr>
          <a:xfrm>
            <a:off x="4720590" y="41158478"/>
            <a:ext cx="3131820" cy="3429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7620">
            <a:solidFill>
              <a:srgbClr val="DDD5C5"/>
            </a:solidFill>
            <a:prstDash val="solid"/>
          </a:ln>
        </p:spPr>
      </p:sp>
      <p:sp>
        <p:nvSpPr>
          <p:cNvPr id="472" name="Text 470"/>
          <p:cNvSpPr/>
          <p:nvPr/>
        </p:nvSpPr>
        <p:spPr>
          <a:xfrm>
            <a:off x="4823460" y="41242297"/>
            <a:ext cx="19812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▸</a:t>
            </a:r>
            <a:endParaRPr lang="en-US" sz="1050" dirty="0"/>
          </a:p>
        </p:txBody>
      </p:sp>
      <p:sp>
        <p:nvSpPr>
          <p:cNvPr id="473" name="Text 471"/>
          <p:cNvSpPr/>
          <p:nvPr/>
        </p:nvSpPr>
        <p:spPr>
          <a:xfrm>
            <a:off x="5021580" y="41242297"/>
            <a:ext cx="1239441" cy="205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ODE open for ADE week ·</a:t>
            </a:r>
            <a:endParaRPr lang="en-US" sz="1050" dirty="0"/>
          </a:p>
        </p:txBody>
      </p:sp>
      <p:sp>
        <p:nvSpPr>
          <p:cNvPr id="474" name="Text 472"/>
          <p:cNvSpPr/>
          <p:nvPr/>
        </p:nvSpPr>
        <p:spPr>
          <a:xfrm>
            <a:off x="6261021" y="41242297"/>
            <a:ext cx="45255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just now</a:t>
            </a:r>
            <a:endParaRPr lang="en-US" sz="1050" dirty="0"/>
          </a:p>
        </p:txBody>
      </p:sp>
      <p:sp>
        <p:nvSpPr>
          <p:cNvPr id="475" name="Shape 473"/>
          <p:cNvSpPr/>
          <p:nvPr/>
        </p:nvSpPr>
        <p:spPr>
          <a:xfrm>
            <a:off x="4720590" y="41634728"/>
            <a:ext cx="3131820" cy="40767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476" name="Text 474"/>
          <p:cNvSpPr/>
          <p:nvPr/>
        </p:nvSpPr>
        <p:spPr>
          <a:xfrm>
            <a:off x="4778388" y="41739503"/>
            <a:ext cx="3016225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Find your artist →</a:t>
            </a:r>
            <a:endParaRPr lang="en-US" sz="1275" dirty="0"/>
          </a:p>
        </p:txBody>
      </p:sp>
      <p:sp>
        <p:nvSpPr>
          <p:cNvPr id="477" name="Text 475"/>
          <p:cNvSpPr/>
          <p:nvPr/>
        </p:nvSpPr>
        <p:spPr>
          <a:xfrm>
            <a:off x="8401050" y="39290625"/>
            <a:ext cx="237105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36" kern="0" dirty="0">
                <a:solidFill>
                  <a:srgbClr val="3A35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 · Two doors (book vs. get booked)</a:t>
            </a:r>
            <a:endParaRPr lang="en-US" sz="900" dirty="0"/>
          </a:p>
        </p:txBody>
      </p:sp>
      <p:sp>
        <p:nvSpPr>
          <p:cNvPr id="478" name="Shape 476"/>
          <p:cNvSpPr/>
          <p:nvPr/>
        </p:nvSpPr>
        <p:spPr>
          <a:xfrm>
            <a:off x="8382000" y="39528750"/>
            <a:ext cx="3429000" cy="2861310"/>
          </a:xfrm>
          <a:prstGeom prst="roundRect">
            <a:avLst>
              <a:gd name="adj" fmla="val 4660"/>
            </a:avLst>
          </a:prstGeom>
          <a:solidFill>
            <a:srgbClr val="FBFAF6"/>
          </a:solidFill>
          <a:ln w="15240">
            <a:solidFill>
              <a:srgbClr val="2B2A28"/>
            </a:solidFill>
            <a:prstDash val="solid"/>
          </a:ln>
          <a:effectLst>
            <a:outerShdw sx="100000" sy="100000" kx="0" ky="0" algn="bl" rotWithShape="0" blurRad="66675" dist="19050" dir="5400000">
              <a:srgbClr val="000000">
                <a:alpha val="14000"/>
              </a:srgbClr>
            </a:outerShdw>
          </a:effectLst>
        </p:spPr>
      </p:sp>
      <p:sp>
        <p:nvSpPr>
          <p:cNvPr id="479" name="Text 477"/>
          <p:cNvSpPr/>
          <p:nvPr/>
        </p:nvSpPr>
        <p:spPr>
          <a:xfrm>
            <a:off x="8373999" y="39677341"/>
            <a:ext cx="34450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180" kern="0" dirty="0">
                <a:solidFill>
                  <a:srgbClr val="1B19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SHOWMAN</a:t>
            </a:r>
            <a:endParaRPr lang="en-US" sz="900" dirty="0"/>
          </a:p>
        </p:txBody>
      </p:sp>
      <p:sp>
        <p:nvSpPr>
          <p:cNvPr id="480" name="Text 478"/>
          <p:cNvSpPr/>
          <p:nvPr/>
        </p:nvSpPr>
        <p:spPr>
          <a:xfrm>
            <a:off x="8373999" y="39982141"/>
            <a:ext cx="344500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Which side are you?</a:t>
            </a:r>
            <a:endParaRPr lang="en-US" sz="2100" dirty="0"/>
          </a:p>
        </p:txBody>
      </p:sp>
      <p:sp>
        <p:nvSpPr>
          <p:cNvPr id="481" name="Shape 479"/>
          <p:cNvSpPr/>
          <p:nvPr/>
        </p:nvSpPr>
        <p:spPr>
          <a:xfrm>
            <a:off x="8530590" y="40458391"/>
            <a:ext cx="1510665" cy="1499235"/>
          </a:xfrm>
          <a:prstGeom prst="roundRect">
            <a:avLst>
              <a:gd name="adj" fmla="val 7624"/>
            </a:avLst>
          </a:prstGeom>
          <a:solidFill>
            <a:srgbClr val="1B1916"/>
          </a:solidFill>
          <a:ln/>
        </p:spPr>
      </p:sp>
      <p:sp>
        <p:nvSpPr>
          <p:cNvPr id="482" name="Text 480"/>
          <p:cNvSpPr/>
          <p:nvPr/>
        </p:nvSpPr>
        <p:spPr>
          <a:xfrm>
            <a:off x="8663940" y="40591741"/>
            <a:ext cx="1368362" cy="297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5F0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I'm booking</a:t>
            </a:r>
            <a:endParaRPr lang="en-US" sz="1650" dirty="0"/>
          </a:p>
        </p:txBody>
      </p:sp>
      <p:sp>
        <p:nvSpPr>
          <p:cNvPr id="483" name="Text 481"/>
          <p:cNvSpPr/>
          <p:nvPr/>
        </p:nvSpPr>
        <p:spPr>
          <a:xfrm>
            <a:off x="8663940" y="40907973"/>
            <a:ext cx="136836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BFA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find &amp; book artists direct</a:t>
            </a:r>
            <a:endParaRPr lang="en-US" sz="1050" dirty="0"/>
          </a:p>
        </p:txBody>
      </p:sp>
      <p:sp>
        <p:nvSpPr>
          <p:cNvPr id="484" name="Shape 482"/>
          <p:cNvSpPr/>
          <p:nvPr/>
        </p:nvSpPr>
        <p:spPr>
          <a:xfrm>
            <a:off x="8663940" y="41214675"/>
            <a:ext cx="1243965" cy="320040"/>
          </a:xfrm>
          <a:prstGeom prst="roundRect">
            <a:avLst>
              <a:gd name="adj" fmla="val 50000"/>
            </a:avLst>
          </a:prstGeom>
          <a:solidFill>
            <a:srgbClr val="FF5F00"/>
          </a:solidFill>
          <a:ln/>
        </p:spPr>
      </p:sp>
      <p:sp>
        <p:nvSpPr>
          <p:cNvPr id="485" name="Text 483"/>
          <p:cNvSpPr/>
          <p:nvPr/>
        </p:nvSpPr>
        <p:spPr>
          <a:xfrm>
            <a:off x="8702040" y="41290875"/>
            <a:ext cx="116776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0B02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Enter →</a:t>
            </a:r>
            <a:endParaRPr lang="en-US" sz="1050" dirty="0"/>
          </a:p>
        </p:txBody>
      </p:sp>
      <p:sp>
        <p:nvSpPr>
          <p:cNvPr id="486" name="Shape 484"/>
          <p:cNvSpPr/>
          <p:nvPr/>
        </p:nvSpPr>
        <p:spPr>
          <a:xfrm>
            <a:off x="10136506" y="40458391"/>
            <a:ext cx="1525905" cy="1499235"/>
          </a:xfrm>
          <a:prstGeom prst="roundRect">
            <a:avLst>
              <a:gd name="adj" fmla="val 7624"/>
            </a:avLst>
          </a:prstGeom>
          <a:solidFill>
            <a:srgbClr val="FFFFFF"/>
          </a:solidFill>
          <a:ln w="7620">
            <a:solidFill>
              <a:srgbClr val="2B2A28"/>
            </a:solidFill>
            <a:prstDash val="solid"/>
          </a:ln>
        </p:spPr>
      </p:sp>
      <p:sp>
        <p:nvSpPr>
          <p:cNvPr id="487" name="Text 485"/>
          <p:cNvSpPr/>
          <p:nvPr/>
        </p:nvSpPr>
        <p:spPr>
          <a:xfrm>
            <a:off x="10277475" y="40599359"/>
            <a:ext cx="1320165" cy="556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I'm an artist / team</a:t>
            </a:r>
            <a:endParaRPr lang="en-US" sz="1650" dirty="0"/>
          </a:p>
        </p:txBody>
      </p:sp>
      <p:sp>
        <p:nvSpPr>
          <p:cNvPr id="488" name="Text 486"/>
          <p:cNvSpPr/>
          <p:nvPr/>
        </p:nvSpPr>
        <p:spPr>
          <a:xfrm>
            <a:off x="10277475" y="41174673"/>
            <a:ext cx="1368362" cy="211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57C69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run bookings in one place</a:t>
            </a:r>
            <a:endParaRPr lang="en-US" sz="1050" dirty="0"/>
          </a:p>
        </p:txBody>
      </p:sp>
      <p:sp>
        <p:nvSpPr>
          <p:cNvPr id="489" name="Shape 487"/>
          <p:cNvSpPr/>
          <p:nvPr/>
        </p:nvSpPr>
        <p:spPr>
          <a:xfrm>
            <a:off x="10277475" y="41481375"/>
            <a:ext cx="1243965" cy="335280"/>
          </a:xfrm>
          <a:prstGeom prst="roundRect">
            <a:avLst>
              <a:gd name="adj" fmla="val 50000"/>
            </a:avLst>
          </a:prstGeom>
          <a:ln w="7620">
            <a:solidFill>
              <a:srgbClr val="2B2A28"/>
            </a:solidFill>
            <a:prstDash val="solid"/>
          </a:ln>
        </p:spPr>
      </p:sp>
      <p:sp>
        <p:nvSpPr>
          <p:cNvPr id="490" name="Text 488"/>
          <p:cNvSpPr/>
          <p:nvPr/>
        </p:nvSpPr>
        <p:spPr>
          <a:xfrm>
            <a:off x="10323195" y="41565195"/>
            <a:ext cx="115252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4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Set up →</a:t>
            </a:r>
            <a:endParaRPr lang="en-US" sz="1050" dirty="0"/>
          </a:p>
        </p:txBody>
      </p:sp>
      <p:sp>
        <p:nvSpPr>
          <p:cNvPr id="491" name="Text 489"/>
          <p:cNvSpPr/>
          <p:nvPr/>
        </p:nvSpPr>
        <p:spPr>
          <a:xfrm>
            <a:off x="8373999" y="42081450"/>
            <a:ext cx="344500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A59C8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remembers your side next visit</a:t>
            </a:r>
            <a:endParaRPr lang="en-US" sz="975" dirty="0"/>
          </a:p>
        </p:txBody>
      </p:sp>
      <p:sp>
        <p:nvSpPr>
          <p:cNvPr id="492" name="Shape 490"/>
          <p:cNvSpPr/>
          <p:nvPr/>
        </p:nvSpPr>
        <p:spPr>
          <a:xfrm rot="-90000">
            <a:off x="12382500" y="39528751"/>
            <a:ext cx="2476499" cy="1352550"/>
          </a:xfrm>
          <a:prstGeom prst="rect">
            <a:avLst/>
          </a:prstGeom>
          <a:solidFill>
            <a:srgbClr val="FEF4A8"/>
          </a:solidFill>
          <a:ln/>
          <a:effectLst>
            <a:outerShdw sx="100000" sy="100000" kx="0" ky="0" algn="bl" rotWithShape="0" blurRad="57150" dist="19050" dir="5400000">
              <a:srgbClr val="000000">
                <a:alpha val="16000"/>
              </a:srgbClr>
            </a:outerShdw>
          </a:effectLst>
        </p:spPr>
      </p:sp>
      <p:sp>
        <p:nvSpPr>
          <p:cNvPr id="493" name="Text 491"/>
          <p:cNvSpPr/>
          <p:nvPr/>
        </p:nvSpPr>
        <p:spPr>
          <a:xfrm rot="-90000">
            <a:off x="12525375" y="39671626"/>
            <a:ext cx="2266949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Next step →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Tell me which approach (A–E) and which landing (F) to take hi-fi in the full Showman skin. We can also mix — e.g.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 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's brief bar feeding </a:t>
            </a:r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3A3320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D</a:t>
            </a:r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320"/>
                </a:solidFill>
                <a:highlight>
                  <a:srgbClr val="FEF4A8"/>
                </a:highlight>
                <a:latin typeface="Caveat" pitchFamily="34" charset="0"/>
                <a:ea typeface="Caveat" pitchFamily="34" charset="-122"/>
                <a:cs typeface="Caveat" pitchFamily="34" charset="-120"/>
              </a:rPr>
              <a:t>'s workspace.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2026-06-26T02:44:18Z</dcterms:created>
  <dcterms:modified xsi:type="dcterms:W3CDTF">2026-06-26T02:44:18Z</dcterms:modified>
</cp:coreProperties>
</file>